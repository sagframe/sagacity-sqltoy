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notesSlides/notesSlide1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2.xml" Type="http://schemas.openxmlformats.org/officeDocument/2006/relationships/notesSlide"/><Relationship Id="rId31" Target="notesSlides/notesSlide3.xml" Type="http://schemas.openxmlformats.org/officeDocument/2006/relationships/notesSlide"/><Relationship Id="rId32" Target="notesSlides/notesSlide4.xml" Type="http://schemas.openxmlformats.org/officeDocument/2006/relationships/notesSlide"/><Relationship Id="rId33" Target="notesSlides/notesSlide5.xml" Type="http://schemas.openxmlformats.org/officeDocument/2006/relationships/notesSlide"/><Relationship Id="rId34" Target="notesSlides/notesSlide6.xml" Type="http://schemas.openxmlformats.org/officeDocument/2006/relationships/notesSlide"/><Relationship Id="rId35" Target="notesSlides/notesSlide7.xml" Type="http://schemas.openxmlformats.org/officeDocument/2006/relationships/notesSlide"/><Relationship Id="rId36" Target="notesSlides/notesSlide8.xml" Type="http://schemas.openxmlformats.org/officeDocument/2006/relationships/notesSlide"/><Relationship Id="rId37" Target="notesSlides/notesSlide9.xml" Type="http://schemas.openxmlformats.org/officeDocument/2006/relationships/notesSlide"/><Relationship Id="rId38" Target="notesSlides/notesSlide10.xml" Type="http://schemas.openxmlformats.org/officeDocument/2006/relationships/notesSlide"/><Relationship Id="rId39" Target="notesSlides/notesSlide11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2.xml" Type="http://schemas.openxmlformats.org/officeDocument/2006/relationships/notesSlide"/><Relationship Id="rId41" Target="notesSlides/notesSlide13.xml" Type="http://schemas.openxmlformats.org/officeDocument/2006/relationships/notesSlide"/><Relationship Id="rId42" Target="notesSlides/notesSlide14.xml" Type="http://schemas.openxmlformats.org/officeDocument/2006/relationships/notesSlide"/><Relationship Id="rId43" Target="notesSlides/notesSlide15.xml" Type="http://schemas.openxmlformats.org/officeDocument/2006/relationships/notesSlide"/><Relationship Id="rId44" Target="notesSlides/notesSlide16.xml" Type="http://schemas.openxmlformats.org/officeDocument/2006/relationships/notesSlide"/><Relationship Id="rId45" Target="notesSlides/notesSlide17.xml" Type="http://schemas.openxmlformats.org/officeDocument/2006/relationships/notesSlide"/><Relationship Id="rId46" Target="notesSlides/notesSlide18.xml" Type="http://schemas.openxmlformats.org/officeDocument/2006/relationships/notesSlide"/><Relationship Id="rId47" Target="notesSlides/notesSlide19.xml" Type="http://schemas.openxmlformats.org/officeDocument/2006/relationships/notesSlide"/><Relationship Id="rId48" Target="notesSlides/notesSlide20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开场：今天用约二十页系统介绍开源 ORM 框架 sqltoy-orm。它的核心定位是把 JPA 式的对象操作和原生 SQL 查询融合在一起，既弥补 JPA 复杂查询乏力的短板，又解决 MyBatis 动态 SQL 割裂、对象操作弱的痛点。本次内容全部基于官方 sqltoy-docs 整理。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先用一页给出五个结论，让大家建立整体印象：定位融合、动态 SQL 可直跑、写入一次交互、四层分页、跨库与企业级齐全。后面逐章展开。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目录共八章：先建立认识与定位，再对比主流 ORM，然后讲设计理念、写入、查询、缓存翻译与分析、跨库企业级，最后落到工程化与迁移。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先明确它是什么：一个 Java ORM，把 JPA 的对象操作和 SQL 优先查询合在一起。左边讲定位和来历，右边是三大能力支柱，后续章节分别展开。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时间轴说明 sqltoy 不是实验室产物，而是从农行、金融、拉卡拉、SaaS ERP 一路实战锤炼出来的，每个标志性能力都对应一个真实性能或复杂度场景，2020 年才开源。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五类场景：最典型的是条件多变的后台管理；复杂 SaaS 靠企业级特性支撑；报表分析用内置内存算法；sqlId 模式可做配置化查询底座；OLAP 数仓也已被实践检验。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这张表是全篇的定位核心：MyBatis 强在查询弱在对象，JPA 反过来，sqltoy 把两者融合。底部补充对 jOOQ 式代码拟合 SQL 的立场：单表可以，多表复杂查询双向翻译成本太高。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理念一：动态 SQL 要整洁。MyBatis 用 if/where 标签把一条完整 SQL 切碎；sqltoy 用 #[] 把条件作为片段内嵌，null 自动剔除，SQL 本身完整可读，能直接复制到客户端调试。# 还是 MySQL 注释符，天然安全。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理念二：规范优先。filters 在拼 SQL 前先把入参规整干净；更根本的是表设计约定——枚举状态给默认值、数量金额默认 0 而非 null，从源头省去动态 SQL 里大量判空分支。安全上参数全转 ? 杜绝注入，hint 原样保留。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对象化 CRUD 两块：弹性更新一次交互、null 跳过，对比 JPA 两次交互；updateFetch 把锁查询、校验、修改、返回压成一次闭环，专门给库存、资金台账防超卖。底部列出主键策略和级联、树形封装。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查询有三种写法：复杂报表用 SQL 模式，简单列表用 EntityQuery 或 Lambda；都通过 Link 链式门面调用。补充并行查询、流式抓取和存储过程。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分页是高频痛点。四层优化：智能 count 改写、缓存 count、@fast 先分页后关联、count 与数据并行，叠加把两次往返压到约 1.35 次，另有自定义 count-sql 和跳过计数兜底。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缓存翻译把码值自动换成名称，免 JOIN、本地缓存零开销。四种字典来源 SQL/service/rest/local；六种增量更新检测；反向匹配、多值、租户、i18n，还能直接供下拉框。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复杂分析不靠数据库方言函数：pivot 转置、summary 多维小计总计、链式同环比、树形逐层汇总、link 分组拼接，都在内存里做，跨库一致、解放数据库。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跨库是信创刚需：25 方言覆盖主流、信创、分布式和 OLAP；28 个函数自动替换、方言 sqlId 变体、多库重放验证、保留字处理。改造不用逐句重写。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企业级特性内建：分库分表、多租户、数据权限越权校验、字段加密脱敏、乐观锁、SQL 拦截器、慢SQL收集，组合成合规链路，不用自己拼框架。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工程化：ES sql/json 双模式、Mongo 查询聚合；quickvo 代码生成、autoDDL、debug 热加载、GraalVM AOT；四种集成方式 starter/传统Spring/Solon/纯Java。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架构：一次查询走六层流水线——入口、预解析、规整裁剪、方言路由、优化增强、封装返回。下面是核心包和四个集成模块，核心与集成解耦，可单独替换。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迁移不是重写：概念一一对应，XML/if 换成 sql.xml/#[]，占位换成命名参数，分页插件换成 findPage。先迁查询、再迁写入，最后按需开企业级特性。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收尾：6.0 线要 JDK17，JDK8 走 jre8 维护线；五个演示工程加 quickvo 和插件。何时选用、边界、下一步三段讲清楚：复杂场景上，极简场景不必重，建议从 quickstart 跑通再逐步接入。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63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7000" cy="6858000"/>
          </a:xfrm>
          <a:prstGeom prst="roundRect">
            <a:avLst>
              <a:gd name="adj" fmla="val 0"/>
            </a:avLst>
          </a:prstGeom>
          <a:solidFill>
            <a:srgbClr val="EC934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194" r="194" t="0" b="0"/>
          <a:stretch>
            <a:fillRect/>
          </a:stretch>
        </p:blipFill>
        <p:spPr>
          <a:xfrm rot="0" flipH="false" flipV="false">
            <a:off x="1219200" y="1905000"/>
            <a:ext cx="1498600" cy="19558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4" id="4"/>
          <p:cNvSpPr txBox="true"/>
          <p:nvPr/>
        </p:nvSpPr>
        <p:spPr>
          <a:xfrm rot="0" flipH="false" flipV="false">
            <a:off x="3429000" y="1676400"/>
            <a:ext cx="787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EC9343"/>
                </a:solidFill>
                <a:latin typeface="Noto Sans SC"/>
                <a:ea typeface="Noto Sans SC"/>
                <a:cs typeface="Noto Sans SC"/>
                <a:sym typeface="Noto Sans SC"/>
              </a:rPr>
              <a:t>内部技术分享 · Java ORM 框架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3429000" y="2133600"/>
            <a:ext cx="81280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sqltoy-orm 技术介绍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3429000" y="3200400"/>
            <a:ext cx="78740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900">
                <a:solidFill>
                  <a:srgbClr val="CEDBE8"/>
                </a:solidFill>
                <a:latin typeface="Noto Sans SC"/>
                <a:ea typeface="Noto Sans SC"/>
                <a:cs typeface="Noto Sans SC"/>
                <a:sym typeface="Noto Sans SC"/>
              </a:rPr>
              <a:t>融合 JPA 式对象操作与 SQL 优先查询，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900">
                <a:solidFill>
                  <a:srgbClr val="CEDBE8"/>
                </a:solidFill>
                <a:latin typeface="Noto Sans SC"/>
                <a:ea typeface="Noto Sans SC"/>
                <a:cs typeface="Noto Sans SC"/>
                <a:sym typeface="Noto Sans SC"/>
              </a:rPr>
              <a:t>弥补 JPA 查询短板、解决 MyBatis 高频痛点</a:t>
            </a:r>
          </a:p>
        </p:txBody>
      </p:sp>
      <p:cxnSp>
        <p:nvCxnSpPr>
          <p:cNvPr name="Connector 7" id="7"/>
          <p:cNvCxnSpPr/>
          <p:nvPr/>
        </p:nvCxnSpPr>
        <p:spPr>
          <a:xfrm rot="-38195" flipH="false" flipV="false">
            <a:off x="3429035" y="4514850"/>
            <a:ext cx="114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EC934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8" id="8"/>
          <p:cNvSpPr txBox="true"/>
          <p:nvPr/>
        </p:nvSpPr>
        <p:spPr>
          <a:xfrm rot="0" flipH="false" flipV="false">
            <a:off x="3429000" y="4800600"/>
            <a:ext cx="787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96A8BA"/>
                </a:solidFill>
                <a:latin typeface="Noto Sans SC"/>
                <a:ea typeface="Noto Sans SC"/>
                <a:cs typeface="Noto Sans SC"/>
                <a:sym typeface="Noto Sans SC"/>
              </a:rPr>
              <a:t>版本 6.0.8（JDK 17+） · JDK 8 项目对应 5.6.96.jre8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96A8BA"/>
                </a:solidFill>
                <a:latin typeface="Noto Sans SC"/>
                <a:ea typeface="Noto Sans SC"/>
                <a:cs typeface="Noto Sans SC"/>
                <a:sym typeface="Noto Sans SC"/>
              </a:rPr>
              <a:t>素材来源：sqltoy-docs 官方文档整理 · 2026-10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812800" y="4826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EC9343"/>
                </a:solidFill>
                <a:latin typeface="Noto Sans SC"/>
                <a:ea typeface="Noto Sans SC"/>
                <a:cs typeface="Noto Sans SC"/>
                <a:sym typeface="Noto Sans SC"/>
              </a:rPr>
              <a:t>TL;DR · 一页看懂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812800" y="762000"/>
            <a:ext cx="10566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一页看懂 sqltoy：五个核心结论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61381" flipH="false" flipV="false">
            <a:off x="812857" y="1365250"/>
            <a:ext cx="71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EC934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812800" y="1676400"/>
            <a:ext cx="6096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EC9343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574800" y="1676400"/>
            <a:ext cx="98044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15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定位：JPA 对象 CRUD + 超强原生 SQL 查询，一套框架覆盖简单业务到 SaaS 复杂场景。</a:t>
            </a:r>
            <a:r>
              <a:rPr lang="en-US" b="false" i="false" strike="noStrike" u="none" sz="150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 既不是全写 XML 的映射框架，也不是复杂查询乏力的纯对象框架。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4453" flipH="false" flipV="false">
            <a:off x="1574804" y="2355850"/>
            <a:ext cx="980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7E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 txBox="true"/>
          <p:nvPr/>
        </p:nvSpPr>
        <p:spPr>
          <a:xfrm rot="0" flipH="false" flipV="false">
            <a:off x="812800" y="2540000"/>
            <a:ext cx="6096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EC9343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574800" y="2540000"/>
            <a:ext cx="98044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15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动态 SQL：</a:t>
            </a:r>
            <a:r>
              <a:rPr lang="en-US" b="true" i="false" strike="noStrike" u="none" sz="1500">
                <a:solidFill>
                  <a:srgbClr val="17395D"/>
                </a:solidFill>
                <a:latin typeface="Roboto Mono"/>
                <a:ea typeface="Roboto Mono"/>
                <a:cs typeface="Roboto Mono"/>
                <a:sym typeface="Roboto Mono"/>
              </a:rPr>
              <a:t>#[...]</a:t>
            </a:r>
            <a:r>
              <a:rPr lang="en-US" b="false" i="false" strike="noStrike" u="none" sz="150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 条件片段，参数为 null 自动剔除，SQL 保持原生结构，可直接复制到数据库客户端运行调试。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4453" flipH="false" flipV="false">
            <a:off x="1574804" y="3219450"/>
            <a:ext cx="980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7E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 txBox="true"/>
          <p:nvPr/>
        </p:nvSpPr>
        <p:spPr>
          <a:xfrm rot="0" flipH="false" flipV="false">
            <a:off x="812800" y="3403600"/>
            <a:ext cx="6096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EC9343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574800" y="3403600"/>
            <a:ext cx="98044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15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写入一次交互：</a:t>
            </a:r>
            <a:r>
              <a:rPr lang="en-US" b="false" i="false" strike="noStrike" u="none" sz="150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弹性更新 null 字段自动跳过；</a:t>
            </a:r>
            <a:r>
              <a:rPr lang="en-US" b="true" i="false" strike="noStrike" u="none" sz="1500">
                <a:solidFill>
                  <a:srgbClr val="17395D"/>
                </a:solidFill>
                <a:latin typeface="Roboto Mono"/>
                <a:ea typeface="Roboto Mono"/>
                <a:cs typeface="Roboto Mono"/>
                <a:sym typeface="Roboto Mono"/>
              </a:rPr>
              <a:t>updateFetch</a:t>
            </a:r>
            <a:r>
              <a:rPr lang="en-US" b="false" i="false" strike="noStrike" u="none" sz="150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 一次交互完成锁查询→校验→修改→返回，面向秒杀、库存与资金台账。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4453" flipH="false" flipV="false">
            <a:off x="1574804" y="4083050"/>
            <a:ext cx="980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7E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 txBox="true"/>
          <p:nvPr/>
        </p:nvSpPr>
        <p:spPr>
          <a:xfrm rot="0" flipH="false" flipV="false">
            <a:off x="812800" y="4267200"/>
            <a:ext cx="6096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EC9343"/>
                </a:solidFill>
                <a:latin typeface="Roboto Mono"/>
                <a:ea typeface="Roboto Mono"/>
                <a:cs typeface="Roboto Mono"/>
                <a:sym typeface="Roboto Mono"/>
              </a:rPr>
              <a:t>04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1574800" y="4267200"/>
            <a:ext cx="98044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15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四层分页优化：</a:t>
            </a:r>
            <a:r>
              <a:rPr lang="en-US" b="false" i="false" strike="noStrike" u="none" sz="150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智能 count 改写 + 缓存分页 + </a:t>
            </a:r>
            <a:r>
              <a:rPr lang="en-US" b="true" i="false" strike="noStrike" u="none" sz="1500">
                <a:solidFill>
                  <a:srgbClr val="17395D"/>
                </a:solidFill>
                <a:latin typeface="Roboto Mono"/>
                <a:ea typeface="Roboto Mono"/>
                <a:cs typeface="Roboto Mono"/>
                <a:sym typeface="Roboto Mono"/>
              </a:rPr>
              <a:t>@fast</a:t>
            </a:r>
            <a:r>
              <a:rPr lang="en-US" b="false" i="false" strike="noStrike" u="none" sz="150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 先分页后关联 + 并行分页，把原本两次查询压到约 1.35 次。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4453" flipH="false" flipV="false">
            <a:off x="1574804" y="4946650"/>
            <a:ext cx="980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7E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 txBox="true"/>
          <p:nvPr/>
        </p:nvSpPr>
        <p:spPr>
          <a:xfrm rot="0" flipH="false" flipV="false">
            <a:off x="812800" y="5130800"/>
            <a:ext cx="6096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EC9343"/>
                </a:solidFill>
                <a:latin typeface="Roboto Mono"/>
                <a:ea typeface="Roboto Mono"/>
                <a:cs typeface="Roboto Mono"/>
                <a:sym typeface="Roboto Mono"/>
              </a:rPr>
              <a:t>05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574800" y="5130800"/>
            <a:ext cx="98044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15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跨库与企业级：</a:t>
            </a:r>
            <a:r>
              <a:rPr lang="en-US" b="false" i="false" strike="noStrike" u="none" sz="150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25 种方言、28 个函数自动替换；内置缓存翻译、分库分表、多租户、数据权限、脱敏加解密与内存数据分析。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812800" y="6502400"/>
            <a:ext cx="762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8A6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来源：sqltoy-docs · introduction/feature.md、query/pagination.md、best/best_practices.md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10922000" y="6502400"/>
            <a:ext cx="457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8A6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812800" y="6096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EC9343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 · 目录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812800" y="889000"/>
            <a:ext cx="10566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分享提纲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61381" flipH="false" flipV="false">
            <a:off x="812857" y="1492250"/>
            <a:ext cx="71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EC934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032000"/>
            <a:ext cx="889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EC9343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905000" y="2006600"/>
            <a:ext cx="381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认识 sqltoy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905000" y="2387600"/>
            <a:ext cx="3810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788696"/>
                </a:solidFill>
                <a:latin typeface="Noto Sans SC"/>
                <a:ea typeface="Noto Sans SC"/>
                <a:cs typeface="Noto Sans SC"/>
                <a:sym typeface="Noto Sans SC"/>
              </a:rPr>
              <a:t>定位、发展历程与适用场景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291" flipH="false" flipV="false">
            <a:off x="1016009" y="29908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7E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1016000" y="3327400"/>
            <a:ext cx="889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EC9343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905000" y="3302000"/>
            <a:ext cx="381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与主流 ORM 的定位对比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905000" y="3683000"/>
            <a:ext cx="3810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788696"/>
                </a:solidFill>
                <a:latin typeface="Noto Sans SC"/>
                <a:ea typeface="Noto Sans SC"/>
                <a:cs typeface="Noto Sans SC"/>
                <a:sym typeface="Noto Sans SC"/>
              </a:rPr>
              <a:t>MyBatis-Plus / JPA / jOOQ 立场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9291" flipH="false" flipV="false">
            <a:off x="1016009" y="42862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7E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 txBox="true"/>
          <p:nvPr/>
        </p:nvSpPr>
        <p:spPr>
          <a:xfrm rot="0" flipH="false" flipV="false">
            <a:off x="1016000" y="4622800"/>
            <a:ext cx="889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EC9343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905000" y="4597400"/>
            <a:ext cx="381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核心设计理念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1905000" y="4978400"/>
            <a:ext cx="3810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788696"/>
                </a:solidFill>
                <a:latin typeface="Noto Sans SC"/>
                <a:ea typeface="Noto Sans SC"/>
                <a:cs typeface="Noto Sans SC"/>
                <a:sym typeface="Noto Sans SC"/>
              </a:rPr>
              <a:t>整洁动态 SQL、filters 前置规整与防注入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9291" flipH="false" flipV="false">
            <a:off x="1016009" y="5581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7E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 txBox="true"/>
          <p:nvPr/>
        </p:nvSpPr>
        <p:spPr>
          <a:xfrm rot="0" flipH="false" flipV="false">
            <a:off x="1016000" y="5867400"/>
            <a:ext cx="889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EC9343"/>
                </a:solidFill>
                <a:latin typeface="Roboto Mono"/>
                <a:ea typeface="Roboto Mono"/>
                <a:cs typeface="Roboto Mono"/>
                <a:sym typeface="Roboto Mono"/>
              </a:rPr>
              <a:t>04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905000" y="5842000"/>
            <a:ext cx="381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对象化 CRUD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1905000" y="61722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88696"/>
                </a:solidFill>
                <a:latin typeface="Noto Sans SC"/>
                <a:ea typeface="Noto Sans SC"/>
                <a:cs typeface="Noto Sans SC"/>
                <a:sym typeface="Noto Sans SC"/>
              </a:rPr>
              <a:t>弹性更新、updateFetch 与级联封装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6477000" y="2032000"/>
            <a:ext cx="889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EC9343"/>
                </a:solidFill>
                <a:latin typeface="Roboto Mono"/>
                <a:ea typeface="Roboto Mono"/>
                <a:cs typeface="Roboto Mono"/>
                <a:sym typeface="Roboto Mono"/>
              </a:rPr>
              <a:t>05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7366000" y="2006600"/>
            <a:ext cx="40132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查询体系与四层分页优化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7366000" y="2387600"/>
            <a:ext cx="40132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788696"/>
                </a:solidFill>
                <a:latin typeface="Noto Sans SC"/>
                <a:ea typeface="Noto Sans SC"/>
                <a:cs typeface="Noto Sans SC"/>
                <a:sym typeface="Noto Sans SC"/>
              </a:rPr>
              <a:t>三种组织方式、Lambda、并行与快速分页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8906" flipH="false" flipV="false">
            <a:off x="6477008" y="2990850"/>
            <a:ext cx="4902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7E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 txBox="true"/>
          <p:nvPr/>
        </p:nvSpPr>
        <p:spPr>
          <a:xfrm rot="0" flipH="false" flipV="false">
            <a:off x="6477000" y="3327400"/>
            <a:ext cx="889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EC9343"/>
                </a:solidFill>
                <a:latin typeface="Roboto Mono"/>
                <a:ea typeface="Roboto Mono"/>
                <a:cs typeface="Roboto Mono"/>
                <a:sym typeface="Roboto Mono"/>
              </a:rPr>
              <a:t>06</a:t>
            </a:r>
            <a:endParaRPr lang="en-US" sz="1100"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7366000" y="3302000"/>
            <a:ext cx="40132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缓存翻译与内存数据分析</a:t>
            </a:r>
            <a:endParaRPr lang="en-US" sz="1100"/>
          </a:p>
        </p:txBody>
      </p:sp>
      <p:sp>
        <p:nvSpPr>
          <p:cNvPr name="AutoShape 26" id="26"/>
          <p:cNvSpPr txBox="true"/>
          <p:nvPr/>
        </p:nvSpPr>
        <p:spPr>
          <a:xfrm rot="0" flipH="false" flipV="false">
            <a:off x="7366000" y="3683000"/>
            <a:ext cx="40132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788696"/>
                </a:solidFill>
                <a:latin typeface="Noto Sans SC"/>
                <a:ea typeface="Noto Sans SC"/>
                <a:cs typeface="Noto Sans SC"/>
                <a:sym typeface="Noto Sans SC"/>
              </a:rPr>
              <a:t>免 join、行列转换、同环比、树形汇总</a:t>
            </a:r>
            <a:endParaRPr lang="en-US" sz="1100"/>
          </a:p>
        </p:txBody>
      </p:sp>
      <p:cxnSp>
        <p:nvCxnSpPr>
          <p:cNvPr name="Connector 27" id="27"/>
          <p:cNvCxnSpPr/>
          <p:nvPr/>
        </p:nvCxnSpPr>
        <p:spPr>
          <a:xfrm rot="-8906" flipH="false" flipV="false">
            <a:off x="6477008" y="4286250"/>
            <a:ext cx="4902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7E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8" id="28"/>
          <p:cNvSpPr txBox="true"/>
          <p:nvPr/>
        </p:nvSpPr>
        <p:spPr>
          <a:xfrm rot="0" flipH="false" flipV="false">
            <a:off x="6477000" y="4622800"/>
            <a:ext cx="889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EC9343"/>
                </a:solidFill>
                <a:latin typeface="Roboto Mono"/>
                <a:ea typeface="Roboto Mono"/>
                <a:cs typeface="Roboto Mono"/>
                <a:sym typeface="Roboto Mono"/>
              </a:rPr>
              <a:t>07</a:t>
            </a:r>
            <a:endParaRPr lang="en-US" sz="1100"/>
          </a:p>
        </p:txBody>
      </p:sp>
      <p:sp>
        <p:nvSpPr>
          <p:cNvPr name="AutoShape 29" id="29"/>
          <p:cNvSpPr txBox="true"/>
          <p:nvPr/>
        </p:nvSpPr>
        <p:spPr>
          <a:xfrm rot="0" flipH="false" flipV="false">
            <a:off x="7366000" y="4597400"/>
            <a:ext cx="40132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跨库适配与企业级特性</a:t>
            </a:r>
            <a:endParaRPr lang="en-US" sz="1100"/>
          </a:p>
        </p:txBody>
      </p:sp>
      <p:sp>
        <p:nvSpPr>
          <p:cNvPr name="AutoShape 30" id="30"/>
          <p:cNvSpPr txBox="true"/>
          <p:nvPr/>
        </p:nvSpPr>
        <p:spPr>
          <a:xfrm rot="0" flipH="false" flipV="false">
            <a:off x="7366000" y="4978400"/>
            <a:ext cx="40132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788696"/>
                </a:solidFill>
                <a:latin typeface="Noto Sans SC"/>
                <a:ea typeface="Noto Sans SC"/>
                <a:cs typeface="Noto Sans SC"/>
                <a:sym typeface="Noto Sans SC"/>
              </a:rPr>
              <a:t>25 方言、多租户、分库分表、安全脱敏</a:t>
            </a:r>
            <a:endParaRPr lang="en-US" sz="1100"/>
          </a:p>
        </p:txBody>
      </p:sp>
      <p:cxnSp>
        <p:nvCxnSpPr>
          <p:cNvPr name="Connector 31" id="31"/>
          <p:cNvCxnSpPr/>
          <p:nvPr/>
        </p:nvCxnSpPr>
        <p:spPr>
          <a:xfrm rot="-8906" flipH="false" flipV="false">
            <a:off x="6477008" y="5581650"/>
            <a:ext cx="4902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7E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2" id="32"/>
          <p:cNvSpPr txBox="true"/>
          <p:nvPr/>
        </p:nvSpPr>
        <p:spPr>
          <a:xfrm rot="0" flipH="false" flipV="false">
            <a:off x="6477000" y="5867400"/>
            <a:ext cx="889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EC9343"/>
                </a:solidFill>
                <a:latin typeface="Roboto Mono"/>
                <a:ea typeface="Roboto Mono"/>
                <a:cs typeface="Roboto Mono"/>
                <a:sym typeface="Roboto Mono"/>
              </a:rPr>
              <a:t>08</a:t>
            </a:r>
            <a:endParaRPr lang="en-US" sz="1100"/>
          </a:p>
        </p:txBody>
      </p:sp>
      <p:sp>
        <p:nvSpPr>
          <p:cNvPr name="AutoShape 33" id="33"/>
          <p:cNvSpPr txBox="true"/>
          <p:nvPr/>
        </p:nvSpPr>
        <p:spPr>
          <a:xfrm rot="0" flipH="false" flipV="false">
            <a:off x="7366000" y="5842000"/>
            <a:ext cx="40132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工程化、生态与迁移</a:t>
            </a:r>
            <a:endParaRPr lang="en-US" sz="1100"/>
          </a:p>
        </p:txBody>
      </p:sp>
      <p:sp>
        <p:nvSpPr>
          <p:cNvPr name="AutoShape 34" id="34"/>
          <p:cNvSpPr txBox="true"/>
          <p:nvPr/>
        </p:nvSpPr>
        <p:spPr>
          <a:xfrm rot="0" flipH="false" flipV="false">
            <a:off x="7366000" y="6172200"/>
            <a:ext cx="4013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88696"/>
                </a:solidFill>
                <a:latin typeface="Noto Sans SC"/>
                <a:ea typeface="Noto Sans SC"/>
                <a:cs typeface="Noto Sans SC"/>
                <a:sym typeface="Noto Sans SC"/>
              </a:rPr>
              <a:t>集成方式、GraalVM、演示项目与迁移路径</a:t>
            </a:r>
            <a:endParaRPr lang="en-US" sz="1100"/>
          </a:p>
        </p:txBody>
      </p:sp>
      <p:sp>
        <p:nvSpPr>
          <p:cNvPr name="AutoShape 35" id="35"/>
          <p:cNvSpPr txBox="true"/>
          <p:nvPr/>
        </p:nvSpPr>
        <p:spPr>
          <a:xfrm rot="0" flipH="false" flipV="false">
            <a:off x="10922000" y="6502400"/>
            <a:ext cx="457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8A6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812800" y="4826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EC9343"/>
                </a:solidFill>
                <a:latin typeface="Noto Sans SC"/>
                <a:ea typeface="Noto Sans SC"/>
                <a:cs typeface="Noto Sans SC"/>
                <a:sym typeface="Noto Sans SC"/>
              </a:rPr>
              <a:t>01 · 认识 sqltoy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812800" y="762000"/>
            <a:ext cx="10566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融合 JPA 对象操作与原生 SQL 查询的 Java ORM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61381" flipH="false" flipV="false">
            <a:off x="812857" y="1365250"/>
            <a:ext cx="71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EC934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812800" y="1778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它是什么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812800" y="2235200"/>
            <a:ext cx="4826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45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Java 实现，把 </a:t>
            </a:r>
            <a:r>
              <a:rPr lang="en-US" b="true" i="false" strike="noStrike" u="none" sz="145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JPA 式对象化 CRUD</a:t>
            </a:r>
            <a:r>
              <a:rPr lang="en-US" b="false" i="false" strike="noStrike" u="none" sz="145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与 </a:t>
            </a:r>
            <a:r>
              <a:rPr lang="en-US" b="true" i="false" strike="noStrike" u="none" sz="145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原生 SQL 优先查询</a:t>
            </a:r>
            <a:r>
              <a:rPr lang="en-US" b="false" i="false" strike="noStrike" u="none" sz="145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融合在同一套框架里，既不是全写 XML 的映射框架，也不是复杂查询乏力的纯对象框架。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812800" y="40132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从哪里来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812800" y="4470400"/>
            <a:ext cx="4826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45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2007 年起源于农行管理类项目的动态 SQL 灵感，历经金融千万级数据、拉卡拉百亿级大数据平台、SaaS 化多租户 ERP 与 Flink-CDC 实时数仓锤炼，2020 年正式开源共建。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5389948" flipH="false" flipV="false">
            <a:off x="3924300" y="3943359"/>
            <a:ext cx="4343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7E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 txBox="true"/>
          <p:nvPr/>
        </p:nvSpPr>
        <p:spPr>
          <a:xfrm rot="0" flipH="false" flipV="false">
            <a:off x="6502400" y="1778000"/>
            <a:ext cx="4876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三大能力支柱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6502400" y="2362200"/>
            <a:ext cx="48768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EC9343"/>
                </a:solidFill>
                <a:latin typeface="Roboto Mono"/>
                <a:ea typeface="Roboto Mono"/>
                <a:cs typeface="Roboto Mono"/>
                <a:sym typeface="Roboto Mono"/>
              </a:rPr>
              <a:t>01 / 对象操作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6502400" y="2743200"/>
            <a:ext cx="48768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35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JPA 风格 CRUD、弹性更新、updateFetch 高并发写入、级联与主子表层次封装、树形表路由。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8952" flipH="false" flipV="false">
            <a:off x="6502408" y="3498850"/>
            <a:ext cx="4876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7E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 txBox="true"/>
          <p:nvPr/>
        </p:nvSpPr>
        <p:spPr>
          <a:xfrm rot="0" flipH="false" flipV="false">
            <a:off x="6502400" y="3708400"/>
            <a:ext cx="48768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EC9343"/>
                </a:solidFill>
                <a:latin typeface="Roboto Mono"/>
                <a:ea typeface="Roboto Mono"/>
                <a:cs typeface="Roboto Mono"/>
                <a:sym typeface="Roboto Mono"/>
              </a:rPr>
              <a:t>02 / SQL 查询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6502400" y="4089400"/>
            <a:ext cx="48768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35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#[...] 动态 SQL、Lambda 条件、四层分页优化、缓存翻译、并行查询与流式抓取、存储过程。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8952" flipH="false" flipV="false">
            <a:off x="6502408" y="4845050"/>
            <a:ext cx="4876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7E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 txBox="true"/>
          <p:nvPr/>
        </p:nvSpPr>
        <p:spPr>
          <a:xfrm rot="0" flipH="false" flipV="false">
            <a:off x="6502400" y="5054600"/>
            <a:ext cx="48768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EC9343"/>
                </a:solidFill>
                <a:latin typeface="Roboto Mono"/>
                <a:ea typeface="Roboto Mono"/>
                <a:cs typeface="Roboto Mono"/>
                <a:sym typeface="Roboto Mono"/>
              </a:rPr>
              <a:t>03 / 平台增强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6502400" y="5435600"/>
            <a:ext cx="48768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35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25 种方言与函数自动替换、分库分表、多租户、数据权限、脱敏加解密、内存数据分析与 NoSQL 接入。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812800" y="6502400"/>
            <a:ext cx="762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8A6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来源：sqltoy-docs · introduction/introduction.md、README.md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10922000" y="6502400"/>
            <a:ext cx="457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8A6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812800" y="4826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EC9343"/>
                </a:solidFill>
                <a:latin typeface="Noto Sans SC"/>
                <a:ea typeface="Noto Sans SC"/>
                <a:cs typeface="Noto Sans SC"/>
                <a:sym typeface="Noto Sans SC"/>
              </a:rPr>
              <a:t>01 · 认识 sqltoy · 发展历程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812800" y="762000"/>
            <a:ext cx="10566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从项目实战中生长出来，2020 年正式开源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61381" flipH="false" flipV="false">
            <a:off x="812857" y="1365250"/>
            <a:ext cx="71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EC934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5" id="5"/>
          <p:cNvCxnSpPr/>
          <p:nvPr/>
        </p:nvCxnSpPr>
        <p:spPr>
          <a:xfrm rot="-4297" flipH="false" flipV="false">
            <a:off x="1143004" y="3803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7395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41400" y="3708400"/>
            <a:ext cx="203200" cy="203200"/>
          </a:xfrm>
          <a:prstGeom prst="ellipse">
            <a:avLst/>
          </a:prstGeom>
          <a:solidFill>
            <a:srgbClr val="EC934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381000" y="2489200"/>
            <a:ext cx="228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2007–2008</a:t>
            </a:r>
            <a:r>
              <a:rPr lang="en-US" b="false" i="false" strike="noStrike" u="none" sz="130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农行管理项目，偶然灵感诞生更简洁的动态 SQL，作为 JPA 查询补充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581400" y="3708400"/>
            <a:ext cx="203200" cy="203200"/>
          </a:xfrm>
          <a:prstGeom prst="ellipse">
            <a:avLst/>
          </a:prstGeom>
          <a:solidFill>
            <a:srgbClr val="EC934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2921000" y="4140200"/>
            <a:ext cx="2286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2008–2012</a:t>
            </a:r>
            <a:r>
              <a:rPr lang="en-US" b="false" i="false" strike="noStrike" u="none" sz="130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金融千万级数据：2010 缓存翻译、2011 @fast 快速分页、2012 行列转换与同环比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121400" y="3708400"/>
            <a:ext cx="203200" cy="203200"/>
          </a:xfrm>
          <a:prstGeom prst="ellipse">
            <a:avLst/>
          </a:prstGeom>
          <a:solidFill>
            <a:srgbClr val="EC934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5461000" y="2489200"/>
            <a:ext cx="228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2013–2014</a:t>
            </a:r>
            <a:r>
              <a:rPr lang="en-US" b="false" i="false" strike="noStrike" u="none" sz="130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实现基于对象的 CRUD，形成完整的 sqltoy-orm 框架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661400" y="3708400"/>
            <a:ext cx="203200" cy="203200"/>
          </a:xfrm>
          <a:prstGeom prst="ellipse">
            <a:avLst/>
          </a:prstGeom>
          <a:solidFill>
            <a:srgbClr val="EC934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8001000" y="4140200"/>
            <a:ext cx="2286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2014–2017</a:t>
            </a:r>
            <a:r>
              <a:rPr lang="en-US" b="false" i="false" strike="noStrike" u="none" sz="130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拉卡拉大数据平台重构，CRM 与日均千万、累计百亿级数据检验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1201400" y="3708400"/>
            <a:ext cx="203200" cy="203200"/>
          </a:xfrm>
          <a:prstGeom prst="ellipse">
            <a:avLst/>
          </a:prstGeom>
          <a:solidFill>
            <a:srgbClr val="17395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10134600" y="2489200"/>
            <a:ext cx="203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2018–至今</a:t>
            </a:r>
            <a:r>
              <a:rPr lang="en-US" b="false" i="false" strike="noStrike" u="none" sz="130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SaaS 多租户 ERP 与实时数仓锤炼，2020 正式开源共建</a:t>
            </a:r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812800" y="6502400"/>
            <a:ext cx="762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8A6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来源：sqltoy-docs · introduction/introduction.md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10922000" y="6502400"/>
            <a:ext cx="457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8A6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812800" y="4826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EC9343"/>
                </a:solidFill>
                <a:latin typeface="Noto Sans SC"/>
                <a:ea typeface="Noto Sans SC"/>
                <a:cs typeface="Noto Sans SC"/>
                <a:sym typeface="Noto Sans SC"/>
              </a:rPr>
              <a:t>01 · 认识 sqltoy · 适用场景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812800" y="762000"/>
            <a:ext cx="10566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五类典型场景：从后台管理到实时数仓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61381" flipH="false" flipV="false">
            <a:off x="812857" y="1365250"/>
            <a:ext cx="71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EC934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812800" y="1778000"/>
          <a:ext cx="10566400" cy="4191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921000"/>
                <a:gridCol w="7645400"/>
              </a:tblGrid>
              <a:tr h="571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场景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95D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为什么适合 · 对应能力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95D">
                        <a:alpha val="100000"/>
                      </a:srgbClr>
                    </a:solidFill>
                  </a:tcPr>
                </a:tc>
              </a:tr>
              <a:tr h="7239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50">
                          <a:solidFill>
                            <a:srgbClr val="17395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后台管理类系统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135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查询条件多变、复杂查询与统计多，是 #[] 动态 SQL 的典型适用场景。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239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50">
                          <a:solidFill>
                            <a:srgbClr val="17395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大型 SaaS 多租户业务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135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ERP / MES / CRM 等复杂业务，配合多租户、数据权限、分库分表等企业级特性。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239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50">
                          <a:solidFill>
                            <a:srgbClr val="17395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报表与数据分析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135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分组汇总、行列转换、同比环比、树形排序汇总等内存算法，可作为报表平台的扩展。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239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50">
                          <a:solidFill>
                            <a:srgbClr val="17395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配置化查询服务底座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135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sqlId + 命名参数天然适合把查询做成配置，快速开发数据接口。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239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50">
                          <a:solidFill>
                            <a:srgbClr val="17395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大数据 / 实时数仓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135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ClickHouse、Doris、StarRocks 等 OLAP 完善支持，并有 Flink-CDC 结合实践检验。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6" id="6"/>
          <p:cNvSpPr txBox="true"/>
          <p:nvPr/>
        </p:nvSpPr>
        <p:spPr>
          <a:xfrm rot="0" flipH="false" flipV="false">
            <a:off x="812800" y="6502400"/>
            <a:ext cx="762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8A6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来源：sqltoy-docs · introduction/introduction.md「适用场景与领域扩展」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922000" y="6502400"/>
            <a:ext cx="457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8A6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812800" y="4318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EC9343"/>
                </a:solidFill>
                <a:latin typeface="Noto Sans SC"/>
                <a:ea typeface="Noto Sans SC"/>
                <a:cs typeface="Noto Sans SC"/>
                <a:sym typeface="Noto Sans SC"/>
              </a:rPr>
              <a:t>02 · 与主流 ORM 的定位对比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812800" y="711200"/>
            <a:ext cx="105664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不是替代谁，而是把两条路线的长处融合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61381" flipH="false" flipV="false">
            <a:off x="812857" y="1263650"/>
            <a:ext cx="71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EC934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812800" y="1524000"/>
          <a:ext cx="10566400" cy="4191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25600"/>
                <a:gridCol w="2895600"/>
                <a:gridCol w="2616200"/>
                <a:gridCol w="3429000"/>
              </a:tblGrid>
              <a:tr h="482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5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维度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95D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5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MyBatis / MyBatis-Plus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95D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5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Hibernate / JPA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95D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5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sqltoy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9343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50">
                          <a:solidFill>
                            <a:srgbClr val="17395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定位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SQL 映射，查询强、对象操作弱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对象操作强，复杂查询偏弱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2D3A4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两者融合：对象 CRUD + 超强原生 SQL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3EA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50">
                          <a:solidFill>
                            <a:srgbClr val="17395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动态 SQL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47556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&lt;if&gt;/&lt;where&gt;</a:t>
                      </a:r>
                      <a:r>
                        <a:rPr lang="en-US" b="false" i="false" strike="noStrike" u="none" sz="115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 割裂 SQL，难直接调试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不提供原生 SQL 编写模式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50">
                          <a:solidFill>
                            <a:srgbClr val="2D3A4A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#[...]</a:t>
                      </a:r>
                      <a:r>
                        <a:rPr lang="en-US" b="false" i="false" strike="noStrike" u="none" sz="1150">
                          <a:solidFill>
                            <a:srgbClr val="2D3A4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 片段，SQL 原生可直跑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3EA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50">
                          <a:solidFill>
                            <a:srgbClr val="17395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update 修改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手写 SQL 或先查后改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先 load 再改，两次交互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2D3A4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弹性更新一次交互，null 自动跳过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3EA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50">
                          <a:solidFill>
                            <a:srgbClr val="17395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高并发台账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自行实现锁与多次交互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无对应能力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50">
                          <a:solidFill>
                            <a:srgbClr val="2D3A4A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updateFetch</a:t>
                      </a:r>
                      <a:r>
                        <a:rPr lang="en-US" b="false" i="false" strike="noStrike" u="none" sz="1150">
                          <a:solidFill>
                            <a:srgbClr val="2D3A4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 锁→校验→改→返回一次完成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3EA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50">
                          <a:solidFill>
                            <a:srgbClr val="17395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码值→名称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手写 JOIN 或多次查询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关联映射繁琐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2D3A4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缓存翻译免 join，本地缓存零网络开销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3EA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50">
                          <a:solidFill>
                            <a:srgbClr val="17395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分页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简单包裹 count(1) from 原 SQL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有分页 API，无 count 优化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2D3A4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智能 count 改写 + 缓存 + @fast + 并行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3EA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50">
                          <a:solidFill>
                            <a:srgbClr val="17395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跨数据库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SQL 绑定特定方言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对象操作可跨库、查询弱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2D3A4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25 方言 + 函数替换 + 多库重放验证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3EA">
                        <a:alpha val="100000"/>
                      </a:srgbClr>
                    </a:solidFill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50">
                          <a:solidFill>
                            <a:srgbClr val="17395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结果封装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ResultMap 手动映射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对象映射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2D3A4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自动映射 + 主子表层次封装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3EA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6" id="6"/>
          <p:cNvSpPr txBox="true"/>
          <p:nvPr/>
        </p:nvSpPr>
        <p:spPr>
          <a:xfrm rot="0" flipH="false" flipV="false">
            <a:off x="812800" y="5969000"/>
            <a:ext cx="105664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88696"/>
                </a:solidFill>
                <a:latin typeface="Noto Sans SC"/>
                <a:ea typeface="Noto Sans SC"/>
                <a:cs typeface="Noto Sans SC"/>
                <a:sym typeface="Noto Sans SC"/>
              </a:rPr>
              <a:t>对 jOOQ / Fluent-MyBatis 等「代码拟合 SQL」：单表简单查询有优势，多表复杂查询属过度包装——SQL 与 Java 双向翻译的成本随复杂度、变更频率持续放大。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812800" y="6502400"/>
            <a:ext cx="762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8A6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来源：sqltoy-docs · README.md「与其他 ORM 的核心区别」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0922000" y="6502400"/>
            <a:ext cx="457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8A6"/>
                </a:solidFill>
                <a:latin typeface="Noto Sans SC"/>
                <a:ea typeface="Noto Sans SC"/>
                <a:cs typeface="Noto Sans SC"/>
                <a:sym typeface="Noto Sans SC"/>
              </a:rPr>
              <a:t>07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812800" y="4318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EC9343"/>
                </a:solidFill>
                <a:latin typeface="Noto Sans SC"/>
                <a:ea typeface="Noto Sans SC"/>
                <a:cs typeface="Noto Sans SC"/>
                <a:sym typeface="Noto Sans SC"/>
              </a:rPr>
              <a:t>03 · 核心设计理念（一）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812800" y="711200"/>
            <a:ext cx="105664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整洁动态 SQL：#[...] 片段内嵌，条件不再割裂语句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61381" flipH="false" flipV="false">
            <a:off x="812857" y="1263650"/>
            <a:ext cx="71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EC934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812800" y="1574800"/>
            <a:ext cx="50292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788696"/>
                </a:solidFill>
                <a:latin typeface="Noto Sans SC"/>
                <a:ea typeface="Noto Sans SC"/>
                <a:cs typeface="Noto Sans SC"/>
                <a:sym typeface="Noto Sans SC"/>
              </a:rPr>
              <a:t>MyBatis：标签把 SQL 切成碎片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12800" y="1905000"/>
            <a:ext cx="5029200" cy="2489200"/>
          </a:xfrm>
          <a:prstGeom prst="roundRect">
            <a:avLst>
              <a:gd name="adj" fmla="val 0"/>
            </a:avLst>
          </a:prstGeom>
          <a:solidFill>
            <a:srgbClr val="F4F6F9">
              <a:alpha val="100000"/>
            </a:srgbClr>
          </a:solidFill>
          <a:ln w="12700" cmpd="sng" cap="flat">
            <a:solidFill>
              <a:srgbClr val="E2E7E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16000" y="2082800"/>
            <a:ext cx="4648200" cy="218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Roboto Mono"/>
                <a:ea typeface="Roboto Mono"/>
                <a:cs typeface="Roboto Mono"/>
                <a:sym typeface="Roboto Mono"/>
              </a:rPr>
              <a:t>&lt;select id="query"&gt;</a:t>
            </a:r>
            <a:endParaRPr lang="en-US" sz="1100"/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Roboto Mono"/>
                <a:ea typeface="Roboto Mono"/>
                <a:cs typeface="Roboto Mono"/>
                <a:sym typeface="Roboto Mono"/>
              </a:rPr>
              <a:t>　select * from t_user</a:t>
            </a:r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Roboto Mono"/>
                <a:ea typeface="Roboto Mono"/>
                <a:cs typeface="Roboto Mono"/>
                <a:sym typeface="Roboto Mono"/>
              </a:rPr>
              <a:t>　&lt;where&gt;</a:t>
            </a:r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Roboto Mono"/>
                <a:ea typeface="Roboto Mono"/>
                <a:cs typeface="Roboto Mono"/>
                <a:sym typeface="Roboto Mono"/>
              </a:rPr>
              <a:t>　　&lt;if test="name!=null"&gt;and name=#{name}&lt;/if&gt;</a:t>
            </a:r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Roboto Mono"/>
                <a:ea typeface="Roboto Mono"/>
                <a:cs typeface="Roboto Mono"/>
                <a:sym typeface="Roboto Mono"/>
              </a:rPr>
              <a:t>　　&lt;if test="age!=null"&gt;and age=#{age}&lt;/if&gt;</a:t>
            </a:r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Roboto Mono"/>
                <a:ea typeface="Roboto Mono"/>
                <a:cs typeface="Roboto Mono"/>
                <a:sym typeface="Roboto Mono"/>
              </a:rPr>
              <a:t>　　&lt;if test="status!=null"&gt;and status=#{status}&lt;/if&gt;</a:t>
            </a:r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Roboto Mono"/>
                <a:ea typeface="Roboto Mono"/>
                <a:cs typeface="Roboto Mono"/>
                <a:sym typeface="Roboto Mono"/>
              </a:rPr>
              <a:t>　&lt;/where&gt;</a:t>
            </a:r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Roboto Mono"/>
                <a:ea typeface="Roboto Mono"/>
                <a:cs typeface="Roboto Mono"/>
                <a:sym typeface="Roboto Mono"/>
              </a:rPr>
              <a:t>&lt;/select&gt;</a:t>
            </a:r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6350000" y="1574800"/>
            <a:ext cx="50292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EC9343"/>
                </a:solidFill>
                <a:latin typeface="Noto Sans SC"/>
                <a:ea typeface="Noto Sans SC"/>
                <a:cs typeface="Noto Sans SC"/>
                <a:sym typeface="Noto Sans SC"/>
              </a:rPr>
              <a:t>sqltoy：条件作为 #[] 片段内嵌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0" y="1905000"/>
            <a:ext cx="5029200" cy="2489200"/>
          </a:xfrm>
          <a:prstGeom prst="roundRect">
            <a:avLst>
              <a:gd name="adj" fmla="val 0"/>
            </a:avLst>
          </a:prstGeom>
          <a:solidFill>
            <a:srgbClr val="FCF3EA">
              <a:alpha val="100000"/>
            </a:srgbClr>
          </a:solidFill>
          <a:ln w="12700" cmpd="sng" cap="flat">
            <a:solidFill>
              <a:srgbClr val="EC9343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6553200" y="2082800"/>
            <a:ext cx="4648200" cy="218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200">
                <a:solidFill>
                  <a:srgbClr val="2D3A4A"/>
                </a:solidFill>
                <a:latin typeface="Roboto Mono"/>
                <a:ea typeface="Roboto Mono"/>
                <a:cs typeface="Roboto Mono"/>
                <a:sym typeface="Roboto Mono"/>
              </a:rPr>
              <a:t>&lt;sql id="query"&gt;</a:t>
            </a:r>
            <a:endParaRPr lang="en-US" sz="1100"/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200">
                <a:solidFill>
                  <a:srgbClr val="2D3A4A"/>
                </a:solidFill>
                <a:latin typeface="Roboto Mono"/>
                <a:ea typeface="Roboto Mono"/>
                <a:cs typeface="Roboto Mono"/>
                <a:sym typeface="Roboto Mono"/>
              </a:rPr>
              <a:t>　select * from t_user</a:t>
            </a:r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200">
                <a:solidFill>
                  <a:srgbClr val="2D3A4A"/>
                </a:solidFill>
                <a:latin typeface="Roboto Mono"/>
                <a:ea typeface="Roboto Mono"/>
                <a:cs typeface="Roboto Mono"/>
                <a:sym typeface="Roboto Mono"/>
              </a:rPr>
              <a:t>　where 1=1</a:t>
            </a:r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200">
                <a:solidFill>
                  <a:srgbClr val="2D3A4A"/>
                </a:solidFill>
                <a:latin typeface="Roboto Mono"/>
                <a:ea typeface="Roboto Mono"/>
                <a:cs typeface="Roboto Mono"/>
                <a:sym typeface="Roboto Mono"/>
              </a:rPr>
              <a:t>　#[and name=:name]</a:t>
            </a:r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200">
                <a:solidFill>
                  <a:srgbClr val="2D3A4A"/>
                </a:solidFill>
                <a:latin typeface="Roboto Mono"/>
                <a:ea typeface="Roboto Mono"/>
                <a:cs typeface="Roboto Mono"/>
                <a:sym typeface="Roboto Mono"/>
              </a:rPr>
              <a:t>　#[and age=:age]</a:t>
            </a:r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200">
                <a:solidFill>
                  <a:srgbClr val="2D3A4A"/>
                </a:solidFill>
                <a:latin typeface="Roboto Mono"/>
                <a:ea typeface="Roboto Mono"/>
                <a:cs typeface="Roboto Mono"/>
                <a:sym typeface="Roboto Mono"/>
              </a:rPr>
              <a:t>　#[and status=:status]</a:t>
            </a:r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200">
                <a:solidFill>
                  <a:srgbClr val="2D3A4A"/>
                </a:solidFill>
                <a:latin typeface="Roboto Mono"/>
                <a:ea typeface="Roboto Mono"/>
                <a:cs typeface="Roboto Mono"/>
                <a:sym typeface="Roboto Mono"/>
              </a:rPr>
              <a:t>&lt;/sql&gt;</a:t>
            </a:r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200">
                <a:solidFill>
                  <a:srgbClr val="2D3A4A"/>
                </a:solidFill>
                <a:latin typeface="Roboto Mono"/>
                <a:ea typeface="Roboto Mono"/>
                <a:cs typeface="Roboto Mono"/>
                <a:sym typeface="Roboto Mono"/>
              </a:rPr>
              <a:t>　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12800" y="4902200"/>
            <a:ext cx="127000" cy="127000"/>
          </a:xfrm>
          <a:prstGeom prst="ellipse">
            <a:avLst/>
          </a:prstGeom>
          <a:solidFill>
            <a:srgbClr val="EC934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092200" y="4800600"/>
            <a:ext cx="10287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参数为 null，整段 #[...] 自动剔除</a:t>
            </a:r>
            <a:r>
              <a:rPr lang="en-US" b="false" i="false" strike="noStrike" u="none" sz="13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，无需手写非空判断，也不残留多余 and。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" y="5410200"/>
            <a:ext cx="127000" cy="127000"/>
          </a:xfrm>
          <a:prstGeom prst="ellipse">
            <a:avLst/>
          </a:prstGeom>
          <a:solidFill>
            <a:srgbClr val="EC934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092200" y="5308600"/>
            <a:ext cx="10287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SQL 保持原生连贯</a:t>
            </a:r>
            <a:r>
              <a:rPr lang="en-US" b="false" i="false" strike="noStrike" u="none" sz="13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：去掉 #[] 即可直接复制到数据库客户端运行调试，排查不靠想象。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2800" y="5918200"/>
            <a:ext cx="127000" cy="127000"/>
          </a:xfrm>
          <a:prstGeom prst="ellipse">
            <a:avLst/>
          </a:prstGeom>
          <a:solidFill>
            <a:srgbClr val="EC934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092200" y="5816600"/>
            <a:ext cx="10287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# 恰是 MySQL 单行注释符</a:t>
            </a:r>
            <a:r>
              <a:rPr lang="en-US" b="false" i="false" strike="noStrike" u="none" sz="13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，不破坏语法；命名参数 :name 全转 PreparedStatement 的 ?，杜绝注入。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812800" y="6502400"/>
            <a:ext cx="762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8A6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来源：sqltoy-docs · query/dynamic_sql.md、best/best_practices.md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0922000" y="6502400"/>
            <a:ext cx="457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8A6"/>
                </a:solidFill>
                <a:latin typeface="Noto Sans SC"/>
                <a:ea typeface="Noto Sans SC"/>
                <a:cs typeface="Noto Sans SC"/>
                <a:sym typeface="Noto Sans SC"/>
              </a:rPr>
              <a:t>08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812800" y="4318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EC9343"/>
                </a:solidFill>
                <a:latin typeface="Noto Sans SC"/>
                <a:ea typeface="Noto Sans SC"/>
                <a:cs typeface="Noto Sans SC"/>
                <a:sym typeface="Noto Sans SC"/>
              </a:rPr>
              <a:t>03 · 核心设计理念（二）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812800" y="711200"/>
            <a:ext cx="105664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filters 前置规整：先把入参收拾干净，再拼 SQL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61381" flipH="false" flipV="false">
            <a:off x="812857" y="1263650"/>
            <a:ext cx="71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EC934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812800" y="1625600"/>
            <a:ext cx="50292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前置规整哲学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812800" y="2057400"/>
            <a:ext cx="5029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5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进入 #[] 裁剪前，先由 filters 统一规整入参：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14400" y="2717800"/>
            <a:ext cx="101600" cy="101600"/>
          </a:xfrm>
          <a:prstGeom prst="ellipse">
            <a:avLst/>
          </a:prstGeom>
          <a:solidFill>
            <a:srgbClr val="EC934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143000" y="2616200"/>
            <a:ext cx="4699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空白字符串自动转 null（blank-to-null，默认开启）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14400" y="3251200"/>
            <a:ext cx="101600" cy="101600"/>
          </a:xfrm>
          <a:prstGeom prst="ellipse">
            <a:avLst/>
          </a:prstGeom>
          <a:solidFill>
            <a:srgbClr val="EC934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143000" y="3149600"/>
            <a:ext cx="4699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去除首尾空格，完成类型与范围校验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14400" y="3784600"/>
            <a:ext cx="101600" cy="101600"/>
          </a:xfrm>
          <a:prstGeom prst="ellipse">
            <a:avLst/>
          </a:prstGeom>
          <a:solidFill>
            <a:srgbClr val="EC934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143000" y="3683000"/>
            <a:ext cx="4699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规整后的干净入参再交给 #[] 决定保留或剔除，SQL 里不必到处写非空判断。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5383784" flipH="false" flipV="false">
            <a:off x="4800600" y="2965465"/>
            <a:ext cx="269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7E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 txBox="true"/>
          <p:nvPr/>
        </p:nvSpPr>
        <p:spPr>
          <a:xfrm rot="0" flipH="false" flipV="false">
            <a:off x="6502400" y="1625600"/>
            <a:ext cx="48768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规范优先：从表设计源头简化动态 SQL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502400" y="2082800"/>
            <a:ext cx="4876800" cy="609600"/>
          </a:xfrm>
          <a:prstGeom prst="roundRect">
            <a:avLst>
              <a:gd name="adj" fmla="val 0"/>
            </a:avLst>
          </a:prstGeom>
          <a:solidFill>
            <a:srgbClr val="FCF3EA">
              <a:alpha val="100000"/>
            </a:srgbClr>
          </a:solidFill>
          <a:ln w="12700" cmpd="sng" cap="flat">
            <a:solidFill>
              <a:srgbClr val="EC9343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6705600" y="2184400"/>
            <a:ext cx="45212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5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枚举/状态字段给默认值</a:t>
            </a:r>
            <a:r>
              <a:rPr lang="en-US" b="false" i="false" strike="noStrike" u="none" sz="13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（如 0=默认/未知），不留 null。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502400" y="2819400"/>
            <a:ext cx="4876800" cy="609600"/>
          </a:xfrm>
          <a:prstGeom prst="roundRect">
            <a:avLst>
              <a:gd name="adj" fmla="val 0"/>
            </a:avLst>
          </a:prstGeom>
          <a:solidFill>
            <a:srgbClr val="FCF3EA">
              <a:alpha val="100000"/>
            </a:srgbClr>
          </a:solidFill>
          <a:ln w="12700" cmpd="sng" cap="flat">
            <a:solidFill>
              <a:srgbClr val="EC9343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6705600" y="2921000"/>
            <a:ext cx="45212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5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数量、金额默认 0 而非 null</a:t>
            </a:r>
            <a:r>
              <a:rPr lang="en-US" b="false" i="false" strike="noStrike" u="none" sz="13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，查询不必反复判空。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502400" y="3556000"/>
            <a:ext cx="4876800" cy="609600"/>
          </a:xfrm>
          <a:prstGeom prst="roundRect">
            <a:avLst>
              <a:gd name="adj" fmla="val 0"/>
            </a:avLst>
          </a:prstGeom>
          <a:solidFill>
            <a:srgbClr val="FCF3EA">
              <a:alpha val="100000"/>
            </a:srgbClr>
          </a:solidFill>
          <a:ln w="12700" cmpd="sng" cap="flat">
            <a:solidFill>
              <a:srgbClr val="EC9343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6705600" y="3657600"/>
            <a:ext cx="45212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字段落定默认值，动态 SQL 免写 null/空值复杂分支。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12800" y="4724400"/>
            <a:ext cx="10566400" cy="1219200"/>
          </a:xfrm>
          <a:prstGeom prst="roundRect">
            <a:avLst>
              <a:gd name="adj" fmla="val 0"/>
            </a:avLst>
          </a:prstGeom>
          <a:solidFill>
            <a:srgbClr val="EEF2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1117600" y="4953000"/>
            <a:ext cx="102616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35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安全底线：</a:t>
            </a:r>
            <a:r>
              <a:rPr lang="en-US" b="false" i="false" strike="noStrike" u="none" sz="13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命名参数全部走 PreparedStatement 的 ? 占位，从机制上杜绝 SQL 注入；</a:t>
            </a:r>
            <a:r>
              <a:rPr lang="en-US" b="false" i="false" strike="noStrike" u="none" sz="1350">
                <a:solidFill>
                  <a:srgbClr val="2D3A4A"/>
                </a:solidFill>
                <a:latin typeface="Roboto Mono"/>
                <a:ea typeface="Roboto Mono"/>
                <a:cs typeface="Roboto Mono"/>
                <a:sym typeface="Roboto Mono"/>
              </a:rPr>
              <a:t>/*+ hint */</a:t>
            </a:r>
            <a:r>
              <a:rPr lang="en-US" b="false" i="false" strike="noStrike" u="none" sz="13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 等数据库优化提示原样保留，规整过程不破坏原有执行计划。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812800" y="6502400"/>
            <a:ext cx="762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8A6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来源：sqltoy-docs · query/dynamic_sql.md 第四节、best/best_practices.md 第五六节</a:t>
            </a:r>
            <a:endParaRPr lang="en-US" sz="1100"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10922000" y="6502400"/>
            <a:ext cx="457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8A6"/>
                </a:solidFill>
                <a:latin typeface="Noto Sans SC"/>
                <a:ea typeface="Noto Sans SC"/>
                <a:cs typeface="Noto Sans SC"/>
                <a:sym typeface="Noto Sans SC"/>
              </a:rPr>
              <a:t>09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812800" y="4318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EC9343"/>
                </a:solidFill>
                <a:latin typeface="Noto Sans SC"/>
                <a:ea typeface="Noto Sans SC"/>
                <a:cs typeface="Noto Sans SC"/>
                <a:sym typeface="Noto Sans SC"/>
              </a:rPr>
              <a:t>04 · 对象化 CRUD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812800" y="711200"/>
            <a:ext cx="105664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弹性更新一次交互，updateFetch 面向高并发台账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61381" flipH="false" flipV="false">
            <a:off x="812857" y="1263650"/>
            <a:ext cx="71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EC934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812800" y="1600200"/>
            <a:ext cx="5080000" cy="1498600"/>
          </a:xfrm>
          <a:prstGeom prst="roundRect">
            <a:avLst>
              <a:gd name="adj" fmla="val 0"/>
            </a:avLst>
          </a:prstGeom>
          <a:solidFill>
            <a:srgbClr val="FCF3EA">
              <a:alpha val="100000"/>
            </a:srgbClr>
          </a:solidFill>
          <a:ln w="12700" cmpd="sng" cap="flat">
            <a:solidFill>
              <a:srgbClr val="EC9343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66800" y="1778000"/>
            <a:ext cx="4622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弹性更新：一次交互完成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66800" y="2184400"/>
            <a:ext cx="46228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只提交非空字段，null 字段自动跳过，动态拼出 </a:t>
            </a:r>
            <a:r>
              <a:rPr lang="en-US" b="false" i="false" strike="noStrike" u="none" sz="1300">
                <a:solidFill>
                  <a:srgbClr val="2D3A4A"/>
                </a:solidFill>
                <a:latin typeface="Roboto Mono"/>
                <a:ea typeface="Roboto Mono"/>
                <a:cs typeface="Roboto Mono"/>
                <a:sym typeface="Roboto Mono"/>
              </a:rPr>
              <a:t>update ... set 非空列</a:t>
            </a:r>
            <a:r>
              <a:rPr lang="en-US" b="false" i="false" strike="noStrike" u="none" sz="130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；不必先查出整行，也不会把未传字段覆盖成 null。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99200" y="1600200"/>
            <a:ext cx="5080000" cy="1498600"/>
          </a:xfrm>
          <a:prstGeom prst="roundRect">
            <a:avLst>
              <a:gd name="adj" fmla="val 0"/>
            </a:avLst>
          </a:prstGeom>
          <a:solidFill>
            <a:srgbClr val="F4F6F9">
              <a:alpha val="100000"/>
            </a:srgbClr>
          </a:solidFill>
          <a:ln w="12700" cmpd="sng" cap="flat">
            <a:solidFill>
              <a:srgbClr val="E2E7E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6553200" y="1778000"/>
            <a:ext cx="4622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788696"/>
                </a:solidFill>
                <a:latin typeface="Noto Sans SC"/>
                <a:ea typeface="Noto Sans SC"/>
                <a:cs typeface="Noto Sans SC"/>
                <a:sym typeface="Noto Sans SC"/>
              </a:rPr>
              <a:t>Hibernate / JPA 常规做法：两次交互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6553200" y="2184400"/>
            <a:ext cx="46228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先 load 出实体、改字段、再 save，两次数据库往返；且通常按全字段覆盖，需额外管理未传值。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812800" y="3454400"/>
            <a:ext cx="105664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7395D"/>
                </a:solidFill>
                <a:latin typeface="Roboto Mono"/>
                <a:ea typeface="Roboto Mono"/>
                <a:cs typeface="Roboto Mono"/>
                <a:sym typeface="Roboto Mono"/>
              </a:rPr>
              <a:t>updateFetch / updateSaveFetch</a:t>
            </a:r>
            <a:r>
              <a:rPr lang="en-US" b="true" i="false" strike="noStrike" u="none" sz="15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：锁查询 → 校验 → 修改 → 返回，一次交互闭环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" y="3886200"/>
            <a:ext cx="2286000" cy="685800"/>
          </a:xfrm>
          <a:prstGeom prst="roundRect">
            <a:avLst>
              <a:gd name="adj" fmla="val 0"/>
            </a:avLst>
          </a:prstGeom>
          <a:solidFill>
            <a:srgbClr val="17395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812800" y="3886200"/>
            <a:ext cx="2286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5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加锁查询当前值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90446" flipH="false" flipV="false">
            <a:off x="3149684" y="4222750"/>
            <a:ext cx="482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EC934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3683000" y="3886200"/>
            <a:ext cx="2286000" cy="685800"/>
          </a:xfrm>
          <a:prstGeom prst="roundRect">
            <a:avLst>
              <a:gd name="adj" fmla="val 0"/>
            </a:avLst>
          </a:prstGeom>
          <a:solidFill>
            <a:srgbClr val="17395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3683000" y="3886200"/>
            <a:ext cx="2286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5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业务规则校验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90446" flipH="false" flipV="false">
            <a:off x="6019884" y="4222750"/>
            <a:ext cx="482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EC934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6553200" y="3886200"/>
            <a:ext cx="2286000" cy="685800"/>
          </a:xfrm>
          <a:prstGeom prst="roundRect">
            <a:avLst>
              <a:gd name="adj" fmla="val 0"/>
            </a:avLst>
          </a:prstGeom>
          <a:solidFill>
            <a:srgbClr val="17395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6553200" y="3886200"/>
            <a:ext cx="2286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5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原子修改并提交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90446" flipH="false" flipV="false">
            <a:off x="8890084" y="4222750"/>
            <a:ext cx="482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EC934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9423400" y="3886200"/>
            <a:ext cx="1955800" cy="685800"/>
          </a:xfrm>
          <a:prstGeom prst="roundRect">
            <a:avLst>
              <a:gd name="adj" fmla="val 0"/>
            </a:avLst>
          </a:prstGeom>
          <a:solidFill>
            <a:srgbClr val="EC934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9423400" y="3886200"/>
            <a:ext cx="19558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5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返回最新结果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812800" y="4851400"/>
            <a:ext cx="105664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788696"/>
                </a:solidFill>
                <a:latin typeface="Noto Sans SC"/>
                <a:ea typeface="Noto Sans SC"/>
                <a:cs typeface="Noto Sans SC"/>
                <a:sym typeface="Noto Sans SC"/>
              </a:rPr>
              <a:t>适用：秒杀库存扣减、资金台账、余额变更等必须防超卖、防并发覆盖的高并发写入。</a:t>
            </a:r>
            <a:endParaRPr lang="en-US" sz="1100"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812800" y="5384800"/>
            <a:ext cx="105664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主键策略：22/26 位纳秒 · 雪花 · UUIDv7 · ULID · Redis 业务号 · sequence · identity</a:t>
            </a:r>
            <a:endParaRPr lang="en-US" sz="1100"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812800" y="5791200"/>
            <a:ext cx="10566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同时支持级联保存、主子表层次封装（hiberarchy）与树形表路由；写入层与查询层共用同一套实体映射。</a:t>
            </a:r>
            <a:endParaRPr lang="en-US" sz="1100"/>
          </a:p>
        </p:txBody>
      </p:sp>
      <p:sp>
        <p:nvSpPr>
          <p:cNvPr name="AutoShape 26" id="26"/>
          <p:cNvSpPr txBox="true"/>
          <p:nvPr/>
        </p:nvSpPr>
        <p:spPr>
          <a:xfrm rot="0" flipH="false" flipV="false">
            <a:off x="812800" y="6502400"/>
            <a:ext cx="762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8A6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来源：sqltoy-docs · crud/sqltoy_crud.md、primarykey/sqltoy_primarykey.md</a:t>
            </a:r>
            <a:endParaRPr lang="en-US" sz="1100"/>
          </a:p>
        </p:txBody>
      </p:sp>
      <p:sp>
        <p:nvSpPr>
          <p:cNvPr name="AutoShape 27" id="27"/>
          <p:cNvSpPr txBox="true"/>
          <p:nvPr/>
        </p:nvSpPr>
        <p:spPr>
          <a:xfrm rot="0" flipH="false" flipV="false">
            <a:off x="10922000" y="6502400"/>
            <a:ext cx="457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8A6"/>
                </a:solidFill>
                <a:latin typeface="Noto Sans SC"/>
                <a:ea typeface="Noto Sans SC"/>
                <a:cs typeface="Noto Sans SC"/>
                <a:sym typeface="Noto Sans SC"/>
              </a:rPr>
              <a:t>10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812800" y="4318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EC9343"/>
                </a:solidFill>
                <a:latin typeface="Noto Sans SC"/>
                <a:ea typeface="Noto Sans SC"/>
                <a:cs typeface="Noto Sans SC"/>
                <a:sym typeface="Noto Sans SC"/>
              </a:rPr>
              <a:t>05 · SQL 查询体系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812800" y="711200"/>
            <a:ext cx="105664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三种组织方式，按复杂度自由切换；Link 统一链式入口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61381" flipH="false" flipV="false">
            <a:off x="812857" y="1263650"/>
            <a:ext cx="71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EC934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812800" y="1676400"/>
            <a:ext cx="3352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EC9343"/>
                </a:solidFill>
                <a:latin typeface="Roboto Mono"/>
                <a:ea typeface="Roboto Mono"/>
                <a:cs typeface="Roboto Mono"/>
                <a:sym typeface="Roboto Mono"/>
              </a:rPr>
              <a:t>① SQL 模式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812800" y="2108200"/>
            <a:ext cx="33528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7500"/>
              </a:lnSpc>
              <a:defRPr/>
            </a:pPr>
            <a:r>
              <a:rPr lang="en-US" b="false" i="false" strike="noStrike" u="none" sz="130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sqlId + #[] 动态 SQL 写在 sql.xml，原生 SQL 直跑调试；最灵活，复杂多表、报表统计首选。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5378514" flipH="false" flipV="false">
            <a:off x="3454400" y="268607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7E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 txBox="true"/>
          <p:nvPr/>
        </p:nvSpPr>
        <p:spPr>
          <a:xfrm rot="0" flipH="false" flipV="false">
            <a:off x="4876800" y="1676400"/>
            <a:ext cx="3352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EC9343"/>
                </a:solidFill>
                <a:latin typeface="Roboto Mono"/>
                <a:ea typeface="Roboto Mono"/>
                <a:cs typeface="Roboto Mono"/>
                <a:sym typeface="Roboto Mono"/>
              </a:rPr>
              <a:t>② EntityQuery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4876800" y="2108200"/>
            <a:ext cx="33528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7500"/>
              </a:lnSpc>
              <a:defRPr/>
            </a:pPr>
            <a:r>
              <a:rPr lang="en-US" b="false" i="false" strike="noStrike" u="none" sz="130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字符串条件构建，单表与简单 join 免写 SQL；适合后台列表快速查询条件拼装。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5378514" flipH="false" flipV="false">
            <a:off x="7518400" y="268607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7E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 txBox="true"/>
          <p:nvPr/>
        </p:nvSpPr>
        <p:spPr>
          <a:xfrm rot="0" flipH="false" flipV="false">
            <a:off x="8940800" y="1676400"/>
            <a:ext cx="24384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EC9343"/>
                </a:solidFill>
                <a:latin typeface="Roboto Mono"/>
                <a:ea typeface="Roboto Mono"/>
                <a:cs typeface="Roboto Mono"/>
                <a:sym typeface="Roboto Mono"/>
              </a:rPr>
              <a:t>③ Lambda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8940800" y="2108200"/>
            <a:ext cx="24384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7500"/>
              </a:lnSpc>
              <a:defRPr/>
            </a:pPr>
            <a:r>
              <a:rPr lang="en-US" b="false" i="false" strike="noStrike" u="none" sz="130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6.0.8 并入核心，</a:t>
            </a:r>
            <a:r>
              <a:rPr lang="en-US" b="false" i="false" strike="noStrike" u="none" sz="1300">
                <a:solidFill>
                  <a:srgbClr val="2D3A4A"/>
                </a:solidFill>
                <a:latin typeface="Roboto Mono"/>
                <a:ea typeface="Roboto Mono"/>
                <a:cs typeface="Roboto Mono"/>
                <a:sym typeface="Roboto Mono"/>
              </a:rPr>
              <a:t>eqIfPresent</a:t>
            </a:r>
            <a:r>
              <a:rPr lang="en-US" b="false" i="false" strike="noStrike" u="none" sz="130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 链式条件；单表与 join 一套构建器，类型安全。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4131" flipH="false" flipV="false">
            <a:off x="812804" y="40068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7E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 txBox="true"/>
          <p:nvPr/>
        </p:nvSpPr>
        <p:spPr>
          <a:xfrm rot="0" flipH="false" flipV="false">
            <a:off x="812800" y="4267200"/>
            <a:ext cx="105664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Link 链式入口：一套门面覆盖读写全场景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812800" y="4724400"/>
            <a:ext cx="10566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50">
                <a:solidFill>
                  <a:srgbClr val="2D3A4A"/>
                </a:solidFill>
                <a:latin typeface="Roboto Mono"/>
                <a:ea typeface="Roboto Mono"/>
                <a:cs typeface="Roboto Mono"/>
                <a:sym typeface="Roboto Mono"/>
              </a:rPr>
              <a:t>query · save · update · delete · load · unique · execute · batch · store · elastic · mongo · tableApi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12800" y="5435600"/>
            <a:ext cx="101600" cy="101600"/>
          </a:xfrm>
          <a:prstGeom prst="ellipse">
            <a:avLst/>
          </a:prstGeom>
          <a:solidFill>
            <a:srgbClr val="EC934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1041400" y="5334000"/>
            <a:ext cx="103886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parallelQuery</a:t>
            </a:r>
            <a:r>
              <a:rPr lang="en-US" b="false" i="false" strike="noStrike" u="none" sz="13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 并行发起多个独立查询合并返回，减少串行往返；</a:t>
            </a:r>
            <a:r>
              <a:rPr lang="en-US" b="true" i="false" strike="noStrike" u="none" sz="135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fetchStream</a:t>
            </a:r>
            <a:r>
              <a:rPr lang="en-US" b="false" i="false" strike="noStrike" u="none" sz="13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 流式抓取避免大结果集撑爆内存。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12800" y="5943600"/>
            <a:ext cx="101600" cy="101600"/>
          </a:xfrm>
          <a:prstGeom prst="ellipse">
            <a:avLst/>
          </a:prstGeom>
          <a:solidFill>
            <a:srgbClr val="EC934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1041400" y="5842000"/>
            <a:ext cx="103886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原生存储过程调用、结果集自动映射；LightDao 约 110 个方法覆盖常用读写，无需手写 Mapper。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812800" y="6502400"/>
            <a:ext cx="762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8A6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来源：sqltoy-docs · query/lambda_query.md、link_api.md、sqltoy_query.md、parallel_query.md、store_procedure.md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10922000" y="6502400"/>
            <a:ext cx="457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8A6"/>
                </a:solidFill>
                <a:latin typeface="Noto Sans SC"/>
                <a:ea typeface="Noto Sans SC"/>
                <a:cs typeface="Noto Sans SC"/>
                <a:sym typeface="Noto Sans SC"/>
              </a:rPr>
              <a:t>11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812800" y="4318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EC9343"/>
                </a:solidFill>
                <a:latin typeface="Noto Sans SC"/>
                <a:ea typeface="Noto Sans SC"/>
                <a:cs typeface="Noto Sans SC"/>
                <a:sym typeface="Noto Sans SC"/>
              </a:rPr>
              <a:t>05 · 分页优化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812800" y="711200"/>
            <a:ext cx="105664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四层分页优化：把两次查询压到约 1.35 次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61381" flipH="false" flipV="false">
            <a:off x="812857" y="1263650"/>
            <a:ext cx="71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EC934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812800" y="1778000"/>
            <a:ext cx="2489200" cy="1905000"/>
          </a:xfrm>
          <a:prstGeom prst="roundRect">
            <a:avLst>
              <a:gd name="adj" fmla="val 0"/>
            </a:avLst>
          </a:prstGeom>
          <a:solidFill>
            <a:srgbClr val="EEF2F7">
              <a:alpha val="100000"/>
            </a:srgbClr>
          </a:solidFill>
          <a:ln w="12700" cmpd="sng" cap="flat">
            <a:solidFill>
              <a:srgbClr val="E2E7E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1981200"/>
            <a:ext cx="2082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7395D"/>
                </a:solidFill>
                <a:latin typeface="Roboto Mono"/>
                <a:ea typeface="Roboto Mono"/>
                <a:cs typeface="Roboto Mono"/>
                <a:sym typeface="Roboto Mono"/>
              </a:rPr>
              <a:t>① 智能 count 改写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16000" y="2438400"/>
            <a:ext cx="2082800" cy="1092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2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剔除 order by、简化 select 列，count 不照搬原 SQL，避免排序与冗余列开销。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71744" flipH="false" flipV="false">
            <a:off x="3378359" y="27241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EC934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3683000" y="1778000"/>
            <a:ext cx="2489200" cy="1905000"/>
          </a:xfrm>
          <a:prstGeom prst="roundRect">
            <a:avLst>
              <a:gd name="adj" fmla="val 0"/>
            </a:avLst>
          </a:prstGeom>
          <a:solidFill>
            <a:srgbClr val="EEF2F7">
              <a:alpha val="100000"/>
            </a:srgbClr>
          </a:solidFill>
          <a:ln w="12700" cmpd="sng" cap="flat">
            <a:solidFill>
              <a:srgbClr val="E2E7E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3886200" y="1981200"/>
            <a:ext cx="2082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7395D"/>
                </a:solidFill>
                <a:latin typeface="Roboto Mono"/>
                <a:ea typeface="Roboto Mono"/>
                <a:cs typeface="Roboto Mono"/>
                <a:sym typeface="Roboto Mono"/>
              </a:rPr>
              <a:t>② 缓存分页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3886200" y="2438400"/>
            <a:ext cx="2082800" cy="1092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2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page-optimize 对相同条件的 count 结果缓存复用，翻页不重复全表计数。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71744" flipH="false" flipV="false">
            <a:off x="6248559" y="27241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EC934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6553200" y="1778000"/>
            <a:ext cx="2489200" cy="1905000"/>
          </a:xfrm>
          <a:prstGeom prst="roundRect">
            <a:avLst>
              <a:gd name="adj" fmla="val 0"/>
            </a:avLst>
          </a:prstGeom>
          <a:solidFill>
            <a:srgbClr val="EEF2F7">
              <a:alpha val="100000"/>
            </a:srgbClr>
          </a:solidFill>
          <a:ln w="12700" cmpd="sng" cap="flat">
            <a:solidFill>
              <a:srgbClr val="E2E7E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6756400" y="1981200"/>
            <a:ext cx="2082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7395D"/>
                </a:solidFill>
                <a:latin typeface="Roboto Mono"/>
                <a:ea typeface="Roboto Mono"/>
                <a:cs typeface="Roboto Mono"/>
                <a:sym typeface="Roboto Mono"/>
              </a:rPr>
              <a:t>③ @fast 先分页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6756400" y="2438400"/>
            <a:ext cx="2082800" cy="1092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2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主表先取当页行，再批量补关联，避免 join 放大后再分页导致的扫描浪费。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71744" flipH="false" flipV="false">
            <a:off x="9118759" y="27241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EC934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9423400" y="1778000"/>
            <a:ext cx="1955800" cy="1905000"/>
          </a:xfrm>
          <a:prstGeom prst="roundRect">
            <a:avLst>
              <a:gd name="adj" fmla="val 0"/>
            </a:avLst>
          </a:prstGeom>
          <a:solidFill>
            <a:srgbClr val="FCF3EA">
              <a:alpha val="100000"/>
            </a:srgbClr>
          </a:solidFill>
          <a:ln w="12700" cmpd="sng" cap="flat">
            <a:solidFill>
              <a:srgbClr val="EC9343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9601200" y="1981200"/>
            <a:ext cx="16256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7395D"/>
                </a:solidFill>
                <a:latin typeface="Roboto Mono"/>
                <a:ea typeface="Roboto Mono"/>
                <a:cs typeface="Roboto Mono"/>
                <a:sym typeface="Roboto Mono"/>
              </a:rPr>
              <a:t>④ 并行分页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9601200" y="2438400"/>
            <a:ext cx="1625600" cy="1092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2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count 与当页数据查询并行发起，把串行两段压成一段等待。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12800" y="4267200"/>
            <a:ext cx="10566400" cy="1219200"/>
          </a:xfrm>
          <a:prstGeom prst="roundRect">
            <a:avLst>
              <a:gd name="adj" fmla="val 0"/>
            </a:avLst>
          </a:prstGeom>
          <a:solidFill>
            <a:srgbClr val="17395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1168400" y="4521200"/>
            <a:ext cx="990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800">
                <a:solidFill>
                  <a:srgbClr val="EC9343"/>
                </a:solidFill>
                <a:latin typeface="Noto Sans SC"/>
                <a:ea typeface="Noto Sans SC"/>
                <a:cs typeface="Noto Sans SC"/>
                <a:sym typeface="Noto Sans SC"/>
              </a:rPr>
              <a:t>效果：</a:t>
            </a: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常规 count + 数据两次往返，四层叠加后压到约 1.35 次；并支持自定义 count-sql、skipQueryCount 跳过计数等兜底手段。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812800" y="5791200"/>
            <a:ext cx="10566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适用：后台列表翻页、多表 join 大结果集；@fast 尤其适合主表小、关联多的复杂页面。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812800" y="6502400"/>
            <a:ext cx="762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8A6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来源：sqltoy-docs · query/pagination.md</a:t>
            </a:r>
            <a:endParaRPr lang="en-US" sz="1100"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10922000" y="6502400"/>
            <a:ext cx="457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8A6"/>
                </a:solidFill>
                <a:latin typeface="Noto Sans SC"/>
                <a:ea typeface="Noto Sans SC"/>
                <a:cs typeface="Noto Sans SC"/>
                <a:sym typeface="Noto Sans SC"/>
              </a:rPr>
              <a:t>12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812800" y="4318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EC9343"/>
                </a:solidFill>
                <a:latin typeface="Noto Sans SC"/>
                <a:ea typeface="Noto Sans SC"/>
                <a:cs typeface="Noto Sans SC"/>
                <a:sym typeface="Noto Sans SC"/>
              </a:rPr>
              <a:t>06 · 缓存翻译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812800" y="711200"/>
            <a:ext cx="105664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码值自动翻译成名称：免 JOIN、本地缓存零网络开销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61381" flipH="false" flipV="false">
            <a:off x="812857" y="1263650"/>
            <a:ext cx="71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EC934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812800" y="1676400"/>
            <a:ext cx="5029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解决什么问题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12800" y="2108200"/>
            <a:ext cx="5029200" cy="1219200"/>
          </a:xfrm>
          <a:prstGeom prst="roundRect">
            <a:avLst>
              <a:gd name="adj" fmla="val 0"/>
            </a:avLst>
          </a:prstGeom>
          <a:solidFill>
            <a:srgbClr val="F4F6F9">
              <a:alpha val="100000"/>
            </a:srgbClr>
          </a:solidFill>
          <a:ln w="12700" cmpd="sng" cap="flat">
            <a:solidFill>
              <a:srgbClr val="E2E7E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41400" y="2286000"/>
            <a:ext cx="45974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7500"/>
              </a:lnSpc>
              <a:defRPr/>
            </a:pPr>
            <a:r>
              <a:rPr lang="en-US" b="true" i="false" strike="noStrike" u="none" sz="13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传统：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状态/类型只存码值，展示要 JOIN 字典表或按码多次查名称，多表关联、重复往返。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12800" y="3530600"/>
            <a:ext cx="5029200" cy="1219200"/>
          </a:xfrm>
          <a:prstGeom prst="roundRect">
            <a:avLst>
              <a:gd name="adj" fmla="val 0"/>
            </a:avLst>
          </a:prstGeom>
          <a:solidFill>
            <a:srgbClr val="FCF3EA">
              <a:alpha val="100000"/>
            </a:srgbClr>
          </a:solidFill>
          <a:ln w="12700" cmpd="sng" cap="flat">
            <a:solidFill>
              <a:srgbClr val="EC9343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041400" y="3708400"/>
            <a:ext cx="45974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7500"/>
              </a:lnSpc>
              <a:defRPr/>
            </a:pPr>
            <a:r>
              <a:rPr lang="en-US" b="true" i="false" strike="noStrike" u="none" sz="13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sqltoy：</a:t>
            </a:r>
            <a:r>
              <a:rPr lang="en-US" b="false" i="false" strike="noStrike" u="none" sz="130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码值字段经 translate 配置自动替换为名称，字典进本地缓存，查询结果组装阶段完成，零额外 SQL。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5385794" flipH="false" flipV="false">
            <a:off x="4762500" y="3206763"/>
            <a:ext cx="3073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7E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 txBox="true"/>
          <p:nvPr/>
        </p:nvSpPr>
        <p:spPr>
          <a:xfrm rot="0" flipH="false" flipV="false">
            <a:off x="6705600" y="1676400"/>
            <a:ext cx="46736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四种缓存来源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6705600" y="2108200"/>
            <a:ext cx="46736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EC9343"/>
                </a:solidFill>
                <a:latin typeface="Roboto Mono"/>
                <a:ea typeface="Roboto Mono"/>
                <a:cs typeface="Roboto Mono"/>
                <a:sym typeface="Roboto Mono"/>
              </a:rPr>
              <a:t>sql</a:t>
            </a:r>
            <a:r>
              <a:rPr lang="en-US" b="false" i="false" strike="noStrike" u="none" sz="13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　SQL 字典缓存　·　</a:t>
            </a:r>
            <a:r>
              <a:rPr lang="en-US" b="true" i="false" strike="noStrike" u="none" sz="1350">
                <a:solidFill>
                  <a:srgbClr val="EC9343"/>
                </a:solidFill>
                <a:latin typeface="Roboto Mono"/>
                <a:ea typeface="Roboto Mono"/>
                <a:cs typeface="Roboto Mono"/>
                <a:sym typeface="Roboto Mono"/>
              </a:rPr>
              <a:t>service</a:t>
            </a:r>
            <a:r>
              <a:rPr lang="en-US" b="false" i="false" strike="noStrike" u="none" sz="13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　Spring Bean 提供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6705600" y="2514600"/>
            <a:ext cx="46736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EC9343"/>
                </a:solidFill>
                <a:latin typeface="Roboto Mono"/>
                <a:ea typeface="Roboto Mono"/>
                <a:cs typeface="Roboto Mono"/>
                <a:sym typeface="Roboto Mono"/>
              </a:rPr>
              <a:t>rest</a:t>
            </a:r>
            <a:r>
              <a:rPr lang="en-US" b="false" i="false" strike="noStrike" u="none" sz="13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　HTTP 接口字典　·　</a:t>
            </a:r>
            <a:r>
              <a:rPr lang="en-US" b="true" i="false" strike="noStrike" u="none" sz="1350">
                <a:solidFill>
                  <a:srgbClr val="EC9343"/>
                </a:solidFill>
                <a:latin typeface="Roboto Mono"/>
                <a:ea typeface="Roboto Mono"/>
                <a:cs typeface="Roboto Mono"/>
                <a:sym typeface="Roboto Mono"/>
              </a:rPr>
              <a:t>local</a:t>
            </a:r>
            <a:r>
              <a:rPr lang="en-US" b="false" i="false" strike="noStrike" u="none" sz="13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　本地静态字典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6705600" y="3124200"/>
            <a:ext cx="46736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扩展能力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705600" y="3632200"/>
            <a:ext cx="101600" cy="101600"/>
          </a:xfrm>
          <a:prstGeom prst="ellipse">
            <a:avLst/>
          </a:prstGeom>
          <a:solidFill>
            <a:srgbClr val="EC934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6934200" y="3530600"/>
            <a:ext cx="444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6 种更新检测机制，支持增量刷新，避免全量重建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705600" y="4089400"/>
            <a:ext cx="101600" cy="101600"/>
          </a:xfrm>
          <a:prstGeom prst="ellipse">
            <a:avLst/>
          </a:prstGeom>
          <a:solidFill>
            <a:srgbClr val="EC934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6934200" y="3987800"/>
            <a:ext cx="44450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cache-arg 反向匹配替代 like；多值拆分、租户隔离、i18n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705600" y="4724400"/>
            <a:ext cx="101600" cy="101600"/>
          </a:xfrm>
          <a:prstGeom prst="ellipse">
            <a:avLst/>
          </a:prstGeom>
          <a:solidFill>
            <a:srgbClr val="EC934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6934200" y="4622800"/>
            <a:ext cx="444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提供 API 直取字典，直接供前端下拉框使用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12800" y="5207000"/>
            <a:ext cx="10566400" cy="762000"/>
          </a:xfrm>
          <a:prstGeom prst="roundRect">
            <a:avLst>
              <a:gd name="adj" fmla="val 0"/>
            </a:avLst>
          </a:prstGeom>
          <a:solidFill>
            <a:srgbClr val="EEF2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1117600" y="5359400"/>
            <a:ext cx="102616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价值：把「码值↔名称」的 JOIN 和反复查询下沉为一次本地内存查找，列表页既快又省 SQL，字典变更还能增量同步。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812800" y="6502400"/>
            <a:ext cx="762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8A6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来源：sqltoy-docs · quickstart/translates.md、translate/sqltoy_FIFO_translate.md</a:t>
            </a:r>
            <a:endParaRPr lang="en-US" sz="1100"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10922000" y="6502400"/>
            <a:ext cx="457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8A6"/>
                </a:solidFill>
                <a:latin typeface="Noto Sans SC"/>
                <a:ea typeface="Noto Sans SC"/>
                <a:cs typeface="Noto Sans SC"/>
                <a:sym typeface="Noto Sans SC"/>
              </a:rPr>
              <a:t>13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812800" y="4318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EC9343"/>
                </a:solidFill>
                <a:latin typeface="Noto Sans SC"/>
                <a:ea typeface="Noto Sans SC"/>
                <a:cs typeface="Noto Sans SC"/>
                <a:sym typeface="Noto Sans SC"/>
              </a:rPr>
              <a:t>06 · 数据分析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812800" y="711200"/>
            <a:ext cx="105664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内存数据分析算法：把聚合从数据库解放，跨库行为一致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61381" flipH="false" flipV="false">
            <a:off x="812857" y="1263650"/>
            <a:ext cx="71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EC934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812800" y="1676400"/>
            <a:ext cx="279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EC9343"/>
                </a:solidFill>
                <a:latin typeface="Roboto Mono"/>
                <a:ea typeface="Roboto Mono"/>
                <a:cs typeface="Roboto Mono"/>
                <a:sym typeface="Roboto Mono"/>
              </a:rPr>
              <a:t>pivot / unpivot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3810000" y="1676400"/>
            <a:ext cx="75692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行转列、列转行，报表交叉表与长表格式互转。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4131" flipH="false" flipV="false">
            <a:off x="812804" y="21272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7E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 txBox="true"/>
          <p:nvPr/>
        </p:nvSpPr>
        <p:spPr>
          <a:xfrm rot="0" flipH="false" flipV="false">
            <a:off x="812800" y="2387600"/>
            <a:ext cx="279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EC9343"/>
                </a:solidFill>
                <a:latin typeface="Roboto Mono"/>
                <a:ea typeface="Roboto Mono"/>
                <a:cs typeface="Roboto Mono"/>
                <a:sym typeface="Roboto Mono"/>
              </a:rPr>
              <a:t>summary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3810000" y="2387600"/>
            <a:ext cx="75692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多维分组小计、总计、平均值，一次完成多层级汇总。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4131" flipH="false" flipV="false">
            <a:off x="812804" y="28384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7E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 txBox="true"/>
          <p:nvPr/>
        </p:nvSpPr>
        <p:spPr>
          <a:xfrm rot="0" flipH="false" flipV="false">
            <a:off x="812800" y="3098800"/>
            <a:ext cx="279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EC9343"/>
                </a:solidFill>
                <a:latin typeface="Roboto Mono"/>
                <a:ea typeface="Roboto Mono"/>
                <a:cs typeface="Roboto Mono"/>
                <a:sym typeface="Roboto Mono"/>
              </a:rPr>
              <a:t>chain-relative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3810000" y="3098800"/>
            <a:ext cx="75692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cols / rows 链式同环比，按相邻行或列计算增长比例。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4131" flipH="false" flipV="false">
            <a:off x="812804" y="35496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7E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 txBox="true"/>
          <p:nvPr/>
        </p:nvSpPr>
        <p:spPr>
          <a:xfrm rot="0" flipH="false" flipV="false">
            <a:off x="812800" y="3810000"/>
            <a:ext cx="279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EC9343"/>
                </a:solidFill>
                <a:latin typeface="Roboto Mono"/>
                <a:ea typeface="Roboto Mono"/>
                <a:cs typeface="Roboto Mono"/>
                <a:sym typeface="Roboto Mono"/>
              </a:rPr>
              <a:t>tree-sort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3810000" y="3810000"/>
            <a:ext cx="75692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树形结构逐层汇总，父子层级合计自动累积。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4131" flipH="false" flipV="false">
            <a:off x="812804" y="42608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7E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 txBox="true"/>
          <p:nvPr/>
        </p:nvSpPr>
        <p:spPr>
          <a:xfrm rot="0" flipH="false" flipV="false">
            <a:off x="812800" y="4521200"/>
            <a:ext cx="279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EC9343"/>
                </a:solidFill>
                <a:latin typeface="Roboto Mono"/>
                <a:ea typeface="Roboto Mono"/>
                <a:cs typeface="Roboto Mono"/>
                <a:sym typeface="Roboto Mono"/>
              </a:rPr>
              <a:t>link 分组拼接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3810000" y="4521200"/>
            <a:ext cx="75692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分组内字段拼接，替代方言相关的 group_concat / listagg。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12800" y="5207000"/>
            <a:ext cx="10566400" cy="914400"/>
          </a:xfrm>
          <a:prstGeom prst="roundRect">
            <a:avLst>
              <a:gd name="adj" fmla="val 0"/>
            </a:avLst>
          </a:prstGeom>
          <a:solidFill>
            <a:srgbClr val="17395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1168400" y="5384800"/>
            <a:ext cx="9906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400">
                <a:solidFill>
                  <a:srgbClr val="EC9343"/>
                </a:solidFill>
                <a:latin typeface="Noto Sans SC"/>
                <a:ea typeface="Noto Sans SC"/>
                <a:cs typeface="Noto Sans SC"/>
                <a:sym typeface="Noto Sans SC"/>
              </a:rPr>
              <a:t>思路：</a:t>
            </a: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取数交给 SQL，汇总、转置、同环比在应用内存完成——不依赖某一方言的聚合函数，换库结果一致，也减轻数仓/OLTP 压力。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812800" y="6502400"/>
            <a:ext cx="762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8A6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来源：sqltoy-docs · query/sqltoy_complex_query.md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10922000" y="6502400"/>
            <a:ext cx="457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8A6"/>
                </a:solidFill>
                <a:latin typeface="Noto Sans SC"/>
                <a:ea typeface="Noto Sans SC"/>
                <a:cs typeface="Noto Sans SC"/>
                <a:sym typeface="Noto Sans SC"/>
              </a:rPr>
              <a:t>14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812800" y="4318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EC9343"/>
                </a:solidFill>
                <a:latin typeface="Noto Sans SC"/>
                <a:ea typeface="Noto Sans SC"/>
                <a:cs typeface="Noto Sans SC"/>
                <a:sym typeface="Noto Sans SC"/>
              </a:rPr>
              <a:t>07 · 跨数据库适配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812800" y="711200"/>
            <a:ext cx="105664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25 种方言 + 28 个函数自动替换，一套 SQL 多库运行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61381" flipH="false" flipV="false">
            <a:off x="812857" y="1263650"/>
            <a:ext cx="71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EC934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812800" y="1676400"/>
            <a:ext cx="5029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25 种方言全覆盖，含信创与 OLAP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12800" y="2108200"/>
            <a:ext cx="5029200" cy="2794000"/>
          </a:xfrm>
          <a:prstGeom prst="roundRect">
            <a:avLst>
              <a:gd name="adj" fmla="val 0"/>
            </a:avLst>
          </a:prstGeom>
          <a:solidFill>
            <a:srgbClr val="EEF2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66800" y="2336800"/>
            <a:ext cx="4572000" cy="2387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8333"/>
              </a:lnSpc>
              <a:defRPr/>
            </a:pPr>
            <a:r>
              <a:rPr lang="en-US" b="true" i="false" strike="noStrike" u="none" sz="130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主流：</a:t>
            </a:r>
            <a:r>
              <a:rPr lang="en-US" b="false" i="false" strike="noStrike" u="none" sz="130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MySQL · Oracle · PostgreSQL · SQLServer · SQLite · H2</a:t>
            </a:r>
            <a:endParaRPr lang="en-US" sz="1100"/>
          </a:p>
          <a:p>
            <a:pPr algn="l" marL="0" indent="0">
              <a:lnSpc>
                <a:spcPct val="158333"/>
              </a:lnSpc>
            </a:pPr>
            <a:r>
              <a:rPr lang="en-US" b="true" i="false" strike="noStrike" u="none" sz="130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信创：</a:t>
            </a:r>
            <a:r>
              <a:rPr lang="en-US" b="false" i="false" strike="noStrike" u="none" sz="130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达梦 DM · 人大金仓 Kingbase · 瀚高 HighGo · GBase</a:t>
            </a:r>
          </a:p>
          <a:p>
            <a:pPr algn="l" marL="0" indent="0">
              <a:lnSpc>
                <a:spcPct val="158333"/>
              </a:lnSpc>
            </a:pPr>
            <a:r>
              <a:rPr lang="en-US" b="true" i="false" strike="noStrike" u="none" sz="130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分布式/云：</a:t>
            </a:r>
            <a:r>
              <a:rPr lang="en-US" b="false" i="false" strike="noStrike" u="none" sz="130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OceanBase · TiDB · 达梦读写分离</a:t>
            </a:r>
          </a:p>
          <a:p>
            <a:pPr algn="l" marL="0" indent="0">
              <a:lnSpc>
                <a:spcPct val="158333"/>
              </a:lnSpc>
            </a:pPr>
            <a:r>
              <a:rPr lang="en-US" b="true" i="false" strike="noStrike" u="none" sz="130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OLAP：</a:t>
            </a:r>
            <a:r>
              <a:rPr lang="en-US" b="false" i="false" strike="noStrike" u="none" sz="130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ClickHouse · Doris · StarRocks · 其他列存</a:t>
            </a:r>
          </a:p>
        </p:txBody>
      </p:sp>
      <p:cxnSp>
        <p:nvCxnSpPr>
          <p:cNvPr name="Connector 8" id="8"/>
          <p:cNvCxnSpPr/>
          <p:nvPr/>
        </p:nvCxnSpPr>
        <p:spPr>
          <a:xfrm rot="5386465" flipH="false" flipV="false">
            <a:off x="4686300" y="3282962"/>
            <a:ext cx="3225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7E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6705600" y="1676400"/>
            <a:ext cx="46736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四层适配机制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705600" y="2209800"/>
            <a:ext cx="101600" cy="101600"/>
          </a:xfrm>
          <a:prstGeom prst="ellipse">
            <a:avLst/>
          </a:prstGeom>
          <a:solidFill>
            <a:srgbClr val="EC934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6934200" y="2108200"/>
            <a:ext cx="4445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函数自动替换：</a:t>
            </a:r>
            <a:r>
              <a:rPr lang="en-US" b="false" i="false" strike="noStrike" u="none" sz="1350">
                <a:solidFill>
                  <a:srgbClr val="2D3A4A"/>
                </a:solidFill>
                <a:latin typeface="Roboto Mono"/>
                <a:ea typeface="Roboto Mono"/>
                <a:cs typeface="Roboto Mono"/>
                <a:sym typeface="Roboto Mono"/>
              </a:rPr>
              <a:t>functionConverts=default</a:t>
            </a:r>
            <a:r>
              <a:rPr lang="en-US" b="false" i="false" strike="noStrike" u="none" sz="13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 把 28 个差异函数按方言改写。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705600" y="2971800"/>
            <a:ext cx="101600" cy="101600"/>
          </a:xfrm>
          <a:prstGeom prst="ellipse">
            <a:avLst/>
          </a:prstGeom>
          <a:solidFill>
            <a:srgbClr val="EC934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6934200" y="2870200"/>
            <a:ext cx="4445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方言 sqlId 变体：</a:t>
            </a:r>
            <a:r>
              <a:rPr lang="en-US" b="false" i="false" strike="noStrike" u="none" sz="13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同一逻辑 SQL 可按库提供专属版本兜底。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705600" y="3733800"/>
            <a:ext cx="101600" cy="101600"/>
          </a:xfrm>
          <a:prstGeom prst="ellipse">
            <a:avLst/>
          </a:prstGeom>
          <a:solidFill>
            <a:srgbClr val="EC934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6934200" y="3632200"/>
            <a:ext cx="4445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多库重放验证：</a:t>
            </a:r>
            <a:r>
              <a:rPr lang="en-US" b="false" i="false" strike="noStrike" u="none" sz="1350">
                <a:solidFill>
                  <a:srgbClr val="2D3A4A"/>
                </a:solidFill>
                <a:latin typeface="Roboto Mono"/>
                <a:ea typeface="Roboto Mono"/>
                <a:cs typeface="Roboto Mono"/>
                <a:sym typeface="Roboto Mono"/>
              </a:rPr>
              <a:t>redoDataSources</a:t>
            </a:r>
            <a:r>
              <a:rPr lang="en-US" b="false" i="false" strike="noStrike" u="none" sz="13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 同一 SQL 在多库回放比对结果。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705600" y="4495800"/>
            <a:ext cx="101600" cy="101600"/>
          </a:xfrm>
          <a:prstGeom prst="ellipse">
            <a:avLst/>
          </a:prstGeom>
          <a:solidFill>
            <a:srgbClr val="EC934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934200" y="43942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保留字：</a:t>
            </a:r>
            <a:r>
              <a:rPr lang="en-US" b="false" i="false" strike="noStrike" u="none" sz="13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reservedWords 自动加引号规避冲突。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12800" y="5257800"/>
            <a:ext cx="10566400" cy="762000"/>
          </a:xfrm>
          <a:prstGeom prst="roundRect">
            <a:avLst>
              <a:gd name="adj" fmla="val 0"/>
            </a:avLst>
          </a:prstGeom>
          <a:solidFill>
            <a:srgbClr val="FCF3EA">
              <a:alpha val="100000"/>
            </a:srgbClr>
          </a:solidFill>
          <a:ln w="12700" cmpd="sng" cap="flat">
            <a:solidFill>
              <a:srgbClr val="EC9343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1117600" y="5410200"/>
            <a:ext cx="102616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价值：信创改造（MySQL→达梦/金仓）与 OLAP 切换不必逐句重写 SQL，框架在方言层完成翻译与验证。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812800" y="6502400"/>
            <a:ext cx="762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8A6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来源：sqltoy-docs · dialect/sqltoy_function.md、multi_db_verify.md、introduction/db_list.md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10922000" y="6502400"/>
            <a:ext cx="457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8A6"/>
                </a:solidFill>
                <a:latin typeface="Noto Sans SC"/>
                <a:ea typeface="Noto Sans SC"/>
                <a:cs typeface="Noto Sans SC"/>
                <a:sym typeface="Noto Sans SC"/>
              </a:rPr>
              <a:t>15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812800" y="4318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EC9343"/>
                </a:solidFill>
                <a:latin typeface="Noto Sans SC"/>
                <a:ea typeface="Noto Sans SC"/>
                <a:cs typeface="Noto Sans SC"/>
                <a:sym typeface="Noto Sans SC"/>
              </a:rPr>
              <a:t>07 · 企业级特性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812800" y="711200"/>
            <a:ext cx="105664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从多租户到安全脱敏，企业级能力内建而非外挂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61381" flipH="false" flipV="false">
            <a:off x="812857" y="1263650"/>
            <a:ext cx="71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EC934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812800" y="17018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50">
                <a:solidFill>
                  <a:srgbClr val="17395D"/>
                </a:solidFill>
                <a:latin typeface="Roboto Mono"/>
                <a:ea typeface="Roboto Mono"/>
                <a:cs typeface="Roboto Mono"/>
                <a:sym typeface="Roboto Mono"/>
              </a:rPr>
              <a:t>分库分表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812800" y="20828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hash 分片路由 + 按日期历史表分离，冷热数据自然拆分。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8594" flipH="false" flipV="false">
            <a:off x="812808" y="27114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7E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 txBox="true"/>
          <p:nvPr/>
        </p:nvSpPr>
        <p:spPr>
          <a:xfrm rot="0" flipH="false" flipV="false">
            <a:off x="812800" y="29464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50">
                <a:solidFill>
                  <a:srgbClr val="17395D"/>
                </a:solidFill>
                <a:latin typeface="Roboto Mono"/>
                <a:ea typeface="Roboto Mono"/>
                <a:cs typeface="Roboto Mono"/>
                <a:sym typeface="Roboto Mono"/>
              </a:rPr>
              <a:t>@Tenant 多租户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812800" y="33274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自动注入租户过滤条件，业务代码不感知租户隔离。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8594" flipH="false" flipV="false">
            <a:off x="812808" y="39560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7E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 txBox="true"/>
          <p:nvPr/>
        </p:nvSpPr>
        <p:spPr>
          <a:xfrm rot="0" flipH="false" flipV="false">
            <a:off x="812800" y="41910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50">
                <a:solidFill>
                  <a:srgbClr val="17395D"/>
                </a:solidFill>
                <a:latin typeface="Roboto Mono"/>
                <a:ea typeface="Roboto Mono"/>
                <a:cs typeface="Roboto Mono"/>
                <a:sym typeface="Roboto Mono"/>
              </a:rPr>
              <a:t>dataAuthFilters 数据权限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812800" y="4572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统一传参 + 越权校验，行级数据权限集中管控。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8594" flipH="false" flipV="false">
            <a:off x="812808" y="5200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7E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 txBox="true"/>
          <p:nvPr/>
        </p:nvSpPr>
        <p:spPr>
          <a:xfrm rot="0" flipH="false" flipV="false">
            <a:off x="812800" y="54356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50">
                <a:solidFill>
                  <a:srgbClr val="17395D"/>
                </a:solidFill>
                <a:latin typeface="Roboto Mono"/>
                <a:ea typeface="Roboto Mono"/>
                <a:cs typeface="Roboto Mono"/>
                <a:sym typeface="Roboto Mono"/>
              </a:rPr>
              <a:t>@DataVersion 乐观锁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812800" y="58166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版本号校验，并发更新冲突时失败而非覆盖。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6350000" y="1701800"/>
            <a:ext cx="5029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50">
                <a:solidFill>
                  <a:srgbClr val="17395D"/>
                </a:solidFill>
                <a:latin typeface="Roboto Mono"/>
                <a:ea typeface="Roboto Mono"/>
                <a:cs typeface="Roboto Mono"/>
                <a:sym typeface="Roboto Mono"/>
              </a:rPr>
              <a:t>RSA 加解密 / 脱敏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350000" y="2082800"/>
            <a:ext cx="5029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字段级 RSA 加密；tel / name / id-card / bank-card 按规则脱敏。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8681" flipH="false" flipV="false">
            <a:off x="6350008" y="2711450"/>
            <a:ext cx="5029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7E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 txBox="true"/>
          <p:nvPr/>
        </p:nvSpPr>
        <p:spPr>
          <a:xfrm rot="0" flipH="false" flipV="false">
            <a:off x="6350000" y="2946400"/>
            <a:ext cx="5029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50">
                <a:solidFill>
                  <a:srgbClr val="17395D"/>
                </a:solidFill>
                <a:latin typeface="Roboto Mono"/>
                <a:ea typeface="Roboto Mono"/>
                <a:cs typeface="Roboto Mono"/>
                <a:sym typeface="Roboto Mono"/>
              </a:rPr>
              <a:t>SqlInterceptor 拦截器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6350000" y="3327400"/>
            <a:ext cx="5029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SQL 执行前后拦截增强，统一附加条件、改写与审计。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8681" flipH="false" flipV="false">
            <a:off x="6350008" y="3956050"/>
            <a:ext cx="5029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7E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 txBox="true"/>
          <p:nvPr/>
        </p:nvSpPr>
        <p:spPr>
          <a:xfrm rot="0" flipH="false" flipV="false">
            <a:off x="6350000" y="4191000"/>
            <a:ext cx="5029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50">
                <a:solidFill>
                  <a:srgbClr val="17395D"/>
                </a:solidFill>
                <a:latin typeface="Roboto Mono"/>
                <a:ea typeface="Roboto Mono"/>
                <a:cs typeface="Roboto Mono"/>
                <a:sym typeface="Roboto Mono"/>
              </a:rPr>
              <a:t>慢 SQL 收集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6350000" y="4572000"/>
            <a:ext cx="5029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超时阈值自动采集慢查询，定位与治理有据可依。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-8681" flipH="false" flipV="false">
            <a:off x="6350008" y="5200650"/>
            <a:ext cx="5029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7E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5" id="25"/>
          <p:cNvSpPr txBox="true"/>
          <p:nvPr/>
        </p:nvSpPr>
        <p:spPr>
          <a:xfrm rot="0" flipH="false" flipV="false">
            <a:off x="6350000" y="5435600"/>
            <a:ext cx="5029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50">
                <a:solidFill>
                  <a:srgbClr val="17395D"/>
                </a:solidFill>
                <a:latin typeface="Roboto Mono"/>
                <a:ea typeface="Roboto Mono"/>
                <a:cs typeface="Roboto Mono"/>
                <a:sym typeface="Roboto Mono"/>
              </a:rPr>
              <a:t>租户隔离 + 审计衔接</a:t>
            </a:r>
            <a:endParaRPr lang="en-US" sz="1100"/>
          </a:p>
        </p:txBody>
      </p:sp>
      <p:sp>
        <p:nvSpPr>
          <p:cNvPr name="AutoShape 26" id="26"/>
          <p:cNvSpPr txBox="true"/>
          <p:nvPr/>
        </p:nvSpPr>
        <p:spPr>
          <a:xfrm rot="0" flipH="false" flipV="false">
            <a:off x="6350000" y="5816600"/>
            <a:ext cx="5029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与多租户、拦截器组合形成完整合规链路。</a:t>
            </a:r>
            <a:endParaRPr lang="en-US" sz="1100"/>
          </a:p>
        </p:txBody>
      </p:sp>
      <p:sp>
        <p:nvSpPr>
          <p:cNvPr name="AutoShape 27" id="27"/>
          <p:cNvSpPr txBox="true"/>
          <p:nvPr/>
        </p:nvSpPr>
        <p:spPr>
          <a:xfrm rot="0" flipH="false" flipV="false">
            <a:off x="812800" y="6502400"/>
            <a:ext cx="762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8A6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来源：sqltoy-docs · enterprise/ 下 sharding / multitenant / permission / security / data_version / slow_sql</a:t>
            </a:r>
            <a:endParaRPr lang="en-US" sz="1100"/>
          </a:p>
        </p:txBody>
      </p:sp>
      <p:sp>
        <p:nvSpPr>
          <p:cNvPr name="AutoShape 28" id="28"/>
          <p:cNvSpPr txBox="true"/>
          <p:nvPr/>
        </p:nvSpPr>
        <p:spPr>
          <a:xfrm rot="0" flipH="false" flipV="false">
            <a:off x="10922000" y="6502400"/>
            <a:ext cx="457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8A6"/>
                </a:solidFill>
                <a:latin typeface="Noto Sans SC"/>
                <a:ea typeface="Noto Sans SC"/>
                <a:cs typeface="Noto Sans SC"/>
                <a:sym typeface="Noto Sans SC"/>
              </a:rPr>
              <a:t>16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812800" y="4318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EC9343"/>
                </a:solidFill>
                <a:latin typeface="Noto Sans SC"/>
                <a:ea typeface="Noto Sans SC"/>
                <a:cs typeface="Noto Sans SC"/>
                <a:sym typeface="Noto Sans SC"/>
              </a:rPr>
              <a:t>08 · NoSQL 与工程化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812800" y="711200"/>
            <a:ext cx="105664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关系库之外接 ES / Mongo，配套代码生成与原生镜像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61381" flipH="false" flipV="false">
            <a:off x="812857" y="1263650"/>
            <a:ext cx="71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EC934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812800" y="1676400"/>
            <a:ext cx="5080000" cy="1092200"/>
          </a:xfrm>
          <a:prstGeom prst="roundRect">
            <a:avLst>
              <a:gd name="adj" fmla="val 0"/>
            </a:avLst>
          </a:prstGeom>
          <a:solidFill>
            <a:srgbClr val="EEF2F7">
              <a:alpha val="100000"/>
            </a:srgbClr>
          </a:solidFill>
          <a:ln w="12700" cmpd="sng" cap="flat">
            <a:solidFill>
              <a:srgbClr val="E2E7E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66800" y="1879600"/>
            <a:ext cx="4622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7395D"/>
                </a:solidFill>
                <a:latin typeface="Roboto Mono"/>
                <a:ea typeface="Roboto Mono"/>
                <a:cs typeface="Roboto Mono"/>
                <a:sym typeface="Roboto Mono"/>
              </a:rPr>
              <a:t>Elasticsearch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66800" y="2286000"/>
            <a:ext cx="46228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sql 与 json 双模式查询，沿用同一套调用习惯。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99200" y="1676400"/>
            <a:ext cx="5080000" cy="1092200"/>
          </a:xfrm>
          <a:prstGeom prst="roundRect">
            <a:avLst>
              <a:gd name="adj" fmla="val 0"/>
            </a:avLst>
          </a:prstGeom>
          <a:solidFill>
            <a:srgbClr val="EEF2F7">
              <a:alpha val="100000"/>
            </a:srgbClr>
          </a:solidFill>
          <a:ln w="12700" cmpd="sng" cap="flat">
            <a:solidFill>
              <a:srgbClr val="E2E7E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6553200" y="1879600"/>
            <a:ext cx="4622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7395D"/>
                </a:solidFill>
                <a:latin typeface="Roboto Mono"/>
                <a:ea typeface="Roboto Mono"/>
                <a:cs typeface="Roboto Mono"/>
                <a:sym typeface="Roboto Mono"/>
              </a:rPr>
              <a:t>MongoDB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6553200" y="2286000"/>
            <a:ext cx="46228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查询与聚合管道接入，与关系库统一门面。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812800" y="3200400"/>
            <a:ext cx="105664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工程化配套工具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" y="3632200"/>
            <a:ext cx="2489200" cy="711200"/>
          </a:xfrm>
          <a:prstGeom prst="roundRect">
            <a:avLst>
              <a:gd name="adj" fmla="val 0"/>
            </a:avLst>
          </a:prstGeom>
          <a:solidFill>
            <a:srgbClr val="FCF3EA">
              <a:alpha val="100000"/>
            </a:srgbClr>
          </a:solidFill>
          <a:ln w="12700" cmpd="sng" cap="flat">
            <a:solidFill>
              <a:srgbClr val="EC9343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812800" y="3632200"/>
            <a:ext cx="24892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quickvo 代码生成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505200" y="3632200"/>
            <a:ext cx="2489200" cy="711200"/>
          </a:xfrm>
          <a:prstGeom prst="roundRect">
            <a:avLst>
              <a:gd name="adj" fmla="val 0"/>
            </a:avLst>
          </a:prstGeom>
          <a:solidFill>
            <a:srgbClr val="FCF3EA">
              <a:alpha val="100000"/>
            </a:srgbClr>
          </a:solidFill>
          <a:ln w="12700" cmpd="sng" cap="flat">
            <a:solidFill>
              <a:srgbClr val="EC9343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3505200" y="3632200"/>
            <a:ext cx="24892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autoDDL 建表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197600" y="3632200"/>
            <a:ext cx="2489200" cy="711200"/>
          </a:xfrm>
          <a:prstGeom prst="roundRect">
            <a:avLst>
              <a:gd name="adj" fmla="val 0"/>
            </a:avLst>
          </a:prstGeom>
          <a:solidFill>
            <a:srgbClr val="FCF3EA">
              <a:alpha val="100000"/>
            </a:srgbClr>
          </a:solidFill>
          <a:ln w="12700" cmpd="sng" cap="flat">
            <a:solidFill>
              <a:srgbClr val="EC9343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197600" y="3632200"/>
            <a:ext cx="24892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debug 热加载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890000" y="3632200"/>
            <a:ext cx="2489200" cy="711200"/>
          </a:xfrm>
          <a:prstGeom prst="roundRect">
            <a:avLst>
              <a:gd name="adj" fmla="val 0"/>
            </a:avLst>
          </a:prstGeom>
          <a:solidFill>
            <a:srgbClr val="FCF3EA">
              <a:alpha val="100000"/>
            </a:srgbClr>
          </a:solidFill>
          <a:ln w="12700" cmpd="sng" cap="flat">
            <a:solidFill>
              <a:srgbClr val="EC9343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8890000" y="3632200"/>
            <a:ext cx="24892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GraalVM AOT 原生镜像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812800" y="4826000"/>
            <a:ext cx="105664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四种集成方式，覆盖主流运行环境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812800" y="5308600"/>
            <a:ext cx="254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EC9343"/>
                </a:solidFill>
                <a:latin typeface="Roboto Mono"/>
                <a:ea typeface="Roboto Mono"/>
                <a:cs typeface="Roboto Mono"/>
                <a:sym typeface="Roboto Mono"/>
              </a:rPr>
              <a:t>starter</a:t>
            </a:r>
            <a:r>
              <a:rPr lang="en-US" b="false" i="false" strike="noStrike" u="none" sz="13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Spring Boot 自动装配，开箱即用</a:t>
            </a:r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3657600" y="5308600"/>
            <a:ext cx="254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EC9343"/>
                </a:solidFill>
                <a:latin typeface="Roboto Mono"/>
                <a:ea typeface="Roboto Mono"/>
                <a:cs typeface="Roboto Mono"/>
                <a:sym typeface="Roboto Mono"/>
              </a:rPr>
              <a:t>spring</a:t>
            </a:r>
            <a:r>
              <a:rPr lang="en-US" b="false" i="false" strike="noStrike" u="none" sz="13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传统 Spring XML/Java 配置集成</a:t>
            </a:r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6502400" y="5308600"/>
            <a:ext cx="228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EC9343"/>
                </a:solidFill>
                <a:latin typeface="Roboto Mono"/>
                <a:ea typeface="Roboto Mono"/>
                <a:cs typeface="Roboto Mono"/>
                <a:sym typeface="Roboto Mono"/>
              </a:rPr>
              <a:t>solon</a:t>
            </a:r>
            <a:r>
              <a:rPr lang="en-US" b="false" i="false" strike="noStrike" u="none" sz="13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Solon 生态轻量集成</a:t>
            </a:r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9042400" y="5308600"/>
            <a:ext cx="23368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EC9343"/>
                </a:solidFill>
                <a:latin typeface="Roboto Mono"/>
                <a:ea typeface="Roboto Mono"/>
                <a:cs typeface="Roboto Mono"/>
                <a:sym typeface="Roboto Mono"/>
              </a:rPr>
              <a:t>pure</a:t>
            </a:r>
            <a:r>
              <a:rPr lang="en-US" b="false" i="false" strike="noStrike" u="none" sz="13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纯 Java 手动配置，零容器依赖</a:t>
            </a:r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812800" y="6502400"/>
            <a:ext cx="762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8A6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来源：sqltoy-docs · nosql/、tools/graalvm_native.md、config/sqltoy_config.md、tools/integration.md</a:t>
            </a:r>
            <a:endParaRPr lang="en-US" sz="1100"/>
          </a:p>
        </p:txBody>
      </p:sp>
      <p:sp>
        <p:nvSpPr>
          <p:cNvPr name="AutoShape 26" id="26"/>
          <p:cNvSpPr txBox="true"/>
          <p:nvPr/>
        </p:nvSpPr>
        <p:spPr>
          <a:xfrm rot="0" flipH="false" flipV="false">
            <a:off x="10922000" y="6502400"/>
            <a:ext cx="457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8A6"/>
                </a:solidFill>
                <a:latin typeface="Noto Sans SC"/>
                <a:ea typeface="Noto Sans SC"/>
                <a:cs typeface="Noto Sans SC"/>
                <a:sym typeface="Noto Sans SC"/>
              </a:rPr>
              <a:t>17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812800" y="4318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EC9343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技术架构 · 一次查询的运行流程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812800" y="711200"/>
            <a:ext cx="105664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从入口到 Page 返回：六层流水线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61381" flipH="false" flipV="false">
            <a:off x="812857" y="1263650"/>
            <a:ext cx="71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EC934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812800" y="1854200"/>
            <a:ext cx="1676400" cy="1320800"/>
          </a:xfrm>
          <a:prstGeom prst="roundRect">
            <a:avLst>
              <a:gd name="adj" fmla="val 0"/>
            </a:avLst>
          </a:prstGeom>
          <a:solidFill>
            <a:srgbClr val="17395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914400" y="2032000"/>
            <a:ext cx="14732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① 统一入口</a:t>
            </a: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LightDao / Link 门面发起调用</a:t>
            </a:r>
          </a:p>
        </p:txBody>
      </p:sp>
      <p:cxnSp>
        <p:nvCxnSpPr>
          <p:cNvPr name="Connector 7" id="7"/>
          <p:cNvCxnSpPr/>
          <p:nvPr/>
        </p:nvCxnSpPr>
        <p:spPr>
          <a:xfrm rot="-427500" flipH="false" flipV="false">
            <a:off x="2514995" y="2508250"/>
            <a:ext cx="10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EC934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2667000" y="1854200"/>
            <a:ext cx="1676400" cy="1320800"/>
          </a:xfrm>
          <a:prstGeom prst="roundRect">
            <a:avLst>
              <a:gd name="adj" fmla="val 0"/>
            </a:avLst>
          </a:prstGeom>
          <a:solidFill>
            <a:srgbClr val="EEF2F7">
              <a:alpha val="100000"/>
            </a:srgbClr>
          </a:solidFill>
          <a:ln w="12700" cmpd="sng" cap="flat">
            <a:solidFill>
              <a:srgbClr val="E2E7E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2768600" y="2032000"/>
            <a:ext cx="14732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② 预解析</a:t>
            </a:r>
            <a:r>
              <a:rPr lang="en-US" b="false" i="false" strike="noStrike" u="none" sz="120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SqlToyConfig 解析 sql.xml 与 sqlId、#[]</a:t>
            </a:r>
          </a:p>
        </p:txBody>
      </p:sp>
      <p:cxnSp>
        <p:nvCxnSpPr>
          <p:cNvPr name="Connector 10" id="10"/>
          <p:cNvCxnSpPr/>
          <p:nvPr/>
        </p:nvCxnSpPr>
        <p:spPr>
          <a:xfrm rot="-427500" flipH="false" flipV="false">
            <a:off x="4369195" y="2508250"/>
            <a:ext cx="10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EC934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4521200" y="1854200"/>
            <a:ext cx="1676400" cy="1320800"/>
          </a:xfrm>
          <a:prstGeom prst="roundRect">
            <a:avLst>
              <a:gd name="adj" fmla="val 0"/>
            </a:avLst>
          </a:prstGeom>
          <a:solidFill>
            <a:srgbClr val="EEF2F7">
              <a:alpha val="100000"/>
            </a:srgbClr>
          </a:solidFill>
          <a:ln w="12700" cmpd="sng" cap="flat">
            <a:solidFill>
              <a:srgbClr val="E2E7E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4622800" y="2032000"/>
            <a:ext cx="14732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③ 规整裁剪</a:t>
            </a:r>
            <a:r>
              <a:rPr lang="en-US" b="false" i="false" strike="noStrike" u="none" sz="120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filters 规整入参，#[] 条件按需剔除</a:t>
            </a:r>
          </a:p>
        </p:txBody>
      </p:sp>
      <p:cxnSp>
        <p:nvCxnSpPr>
          <p:cNvPr name="Connector 13" id="13"/>
          <p:cNvCxnSpPr/>
          <p:nvPr/>
        </p:nvCxnSpPr>
        <p:spPr>
          <a:xfrm rot="-427500" flipH="false" flipV="false">
            <a:off x="6223395" y="2508250"/>
            <a:ext cx="10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EC934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6375400" y="1854200"/>
            <a:ext cx="1676400" cy="1320800"/>
          </a:xfrm>
          <a:prstGeom prst="roundRect">
            <a:avLst>
              <a:gd name="adj" fmla="val 0"/>
            </a:avLst>
          </a:prstGeom>
          <a:solidFill>
            <a:srgbClr val="EEF2F7">
              <a:alpha val="100000"/>
            </a:srgbClr>
          </a:solidFill>
          <a:ln w="12700" cmpd="sng" cap="flat">
            <a:solidFill>
              <a:srgbClr val="E2E7E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6477000" y="2032000"/>
            <a:ext cx="14732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④ 方言路由</a:t>
            </a:r>
            <a:r>
              <a:rPr lang="en-US" b="false" i="false" strike="noStrike" u="none" sz="120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DialectFactory 选方言、替换差异函数</a:t>
            </a:r>
          </a:p>
        </p:txBody>
      </p:sp>
      <p:cxnSp>
        <p:nvCxnSpPr>
          <p:cNvPr name="Connector 16" id="16"/>
          <p:cNvCxnSpPr/>
          <p:nvPr/>
        </p:nvCxnSpPr>
        <p:spPr>
          <a:xfrm rot="-427500" flipH="false" flipV="false">
            <a:off x="8077595" y="2508250"/>
            <a:ext cx="10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EC934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8229600" y="1854200"/>
            <a:ext cx="1676400" cy="1320800"/>
          </a:xfrm>
          <a:prstGeom prst="roundRect">
            <a:avLst>
              <a:gd name="adj" fmla="val 0"/>
            </a:avLst>
          </a:prstGeom>
          <a:solidFill>
            <a:srgbClr val="EEF2F7">
              <a:alpha val="100000"/>
            </a:srgbClr>
          </a:solidFill>
          <a:ln w="12700" cmpd="sng" cap="flat">
            <a:solidFill>
              <a:srgbClr val="E2E7E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8331200" y="2032000"/>
            <a:ext cx="14732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⑤ 优化增强</a:t>
            </a:r>
            <a:r>
              <a:rPr lang="en-US" b="false" i="false" strike="noStrike" u="none" sz="120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分页 count 优化；拦截器挂分片/租户/翻译/脱敏</a:t>
            </a:r>
          </a:p>
        </p:txBody>
      </p:sp>
      <p:cxnSp>
        <p:nvCxnSpPr>
          <p:cNvPr name="Connector 19" id="19"/>
          <p:cNvCxnSpPr/>
          <p:nvPr/>
        </p:nvCxnSpPr>
        <p:spPr>
          <a:xfrm rot="-427500" flipH="false" flipV="false">
            <a:off x="9931795" y="2508250"/>
            <a:ext cx="10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EC934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10083800" y="1854200"/>
            <a:ext cx="1295400" cy="1320800"/>
          </a:xfrm>
          <a:prstGeom prst="roundRect">
            <a:avLst>
              <a:gd name="adj" fmla="val 0"/>
            </a:avLst>
          </a:prstGeom>
          <a:solidFill>
            <a:srgbClr val="EC934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10160000" y="2032000"/>
            <a:ext cx="1143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⑥ 封装返回</a:t>
            </a: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内存算法处理，封装 Page/List</a:t>
            </a:r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812800" y="3810000"/>
            <a:ext cx="105664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核心包结构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812800" y="4267200"/>
            <a:ext cx="10566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50">
                <a:solidFill>
                  <a:srgbClr val="2D3A4A"/>
                </a:solidFill>
                <a:latin typeface="Roboto Mono"/>
                <a:ea typeface="Roboto Mono"/>
                <a:cs typeface="Roboto Mono"/>
                <a:sym typeface="Roboto Mono"/>
              </a:rPr>
              <a:t>SqlToyContext · dao · link · lambda · dialect · plugins · translate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-4131" flipH="false" flipV="false">
            <a:off x="812804" y="49720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7E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5" id="25"/>
          <p:cNvSpPr txBox="true"/>
          <p:nvPr/>
        </p:nvSpPr>
        <p:spPr>
          <a:xfrm rot="0" flipH="false" flipV="false">
            <a:off x="812800" y="5207000"/>
            <a:ext cx="105664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四个集成 artifactId</a:t>
            </a:r>
            <a:endParaRPr lang="en-US" sz="1100"/>
          </a:p>
        </p:txBody>
      </p:sp>
      <p:sp>
        <p:nvSpPr>
          <p:cNvPr name="AutoShape 26" id="26"/>
          <p:cNvSpPr txBox="true"/>
          <p:nvPr/>
        </p:nvSpPr>
        <p:spPr>
          <a:xfrm rot="0" flipH="false" flipV="false">
            <a:off x="812800" y="5664200"/>
            <a:ext cx="10566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Roboto Mono"/>
                <a:ea typeface="Roboto Mono"/>
                <a:cs typeface="Roboto Mono"/>
                <a:sym typeface="Roboto Mono"/>
              </a:rPr>
              <a:t>sqltoy-core（核心）· sqltoy-spring-boot-starter · sqltoy-solon · sqltoy-no-container（纯 Java）</a:t>
            </a:r>
            <a:endParaRPr lang="en-US" sz="1100"/>
          </a:p>
        </p:txBody>
      </p:sp>
      <p:sp>
        <p:nvSpPr>
          <p:cNvPr name="AutoShape 27" id="27"/>
          <p:cNvSpPr txBox="true"/>
          <p:nvPr/>
        </p:nvSpPr>
        <p:spPr>
          <a:xfrm rot="0" flipH="false" flipV="false">
            <a:off x="812800" y="6502400"/>
            <a:ext cx="762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8A6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来源：sqltoy-docs · introduction/architecture.md、config/sqltoy_config.md</a:t>
            </a:r>
            <a:endParaRPr lang="en-US" sz="1100"/>
          </a:p>
        </p:txBody>
      </p:sp>
      <p:sp>
        <p:nvSpPr>
          <p:cNvPr name="AutoShape 28" id="28"/>
          <p:cNvSpPr txBox="true"/>
          <p:nvPr/>
        </p:nvSpPr>
        <p:spPr>
          <a:xfrm rot="0" flipH="false" flipV="false">
            <a:off x="10922000" y="6502400"/>
            <a:ext cx="457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8A6"/>
                </a:solidFill>
                <a:latin typeface="Noto Sans SC"/>
                <a:ea typeface="Noto Sans SC"/>
                <a:cs typeface="Noto Sans SC"/>
                <a:sym typeface="Noto Sans SC"/>
              </a:rPr>
              <a:t>18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812800" y="4318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EC9343"/>
                </a:solidFill>
                <a:latin typeface="Noto Sans SC"/>
                <a:ea typeface="Noto Sans SC"/>
                <a:cs typeface="Noto Sans SC"/>
                <a:sym typeface="Noto Sans SC"/>
              </a:rPr>
              <a:t>08 · 从 MyBatis / MyBatis-Plus 迁移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812800" y="711200"/>
            <a:ext cx="105664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概念一一对应，先迁查询再迁写入，平滑落地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61381" flipH="false" flipV="false">
            <a:off x="812857" y="1263650"/>
            <a:ext cx="71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EC934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812800" y="1574800"/>
          <a:ext cx="10566400" cy="2921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5283200"/>
                <a:gridCol w="5283200"/>
              </a:tblGrid>
              <a:tr h="381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MyBatis / MP</a:t>
                      </a:r>
                      <a:endParaRPr lang="en-US" sz="1100"/>
                    </a:p>
                  </a:txBody>
                  <a:tcPr anchor="ctr" anchorCtr="false" marL="101600" marR="101600" marT="95250" marB="952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95D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sqltoy 对应写法</a:t>
                      </a:r>
                      <a:endParaRPr lang="en-US" sz="1100"/>
                    </a:p>
                  </a:txBody>
                  <a:tcPr anchor="ctr" anchorCtr="false" marL="101600" marR="101600" marT="95250" marB="952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9343">
                        <a:alpha val="100000"/>
                      </a:srgbClr>
                    </a:solidFill>
                  </a:tcPr>
                </a:tc>
              </a:tr>
              <a:tr h="317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50">
                          <a:solidFill>
                            <a:srgbClr val="2D3A4A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Mapper XML / &lt;if&gt;</a:t>
                      </a:r>
                      <a:endParaRPr lang="en-US" sz="1100"/>
                    </a:p>
                  </a:txBody>
                  <a:tcPr anchor="ctr" anchorCtr="false" marL="101600" marR="10160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50">
                          <a:solidFill>
                            <a:srgbClr val="2D3A4A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sql.xml · #[...]</a:t>
                      </a:r>
                      <a:endParaRPr lang="en-US" sz="1100"/>
                    </a:p>
                  </a:txBody>
                  <a:tcPr anchor="ctr" anchorCtr="false" marL="101600" marR="10160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7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50">
                          <a:solidFill>
                            <a:srgbClr val="2D3A4A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#{name} 占位</a:t>
                      </a:r>
                      <a:endParaRPr lang="en-US" sz="1100"/>
                    </a:p>
                  </a:txBody>
                  <a:tcPr anchor="ctr" anchorCtr="false" marL="101600" marR="10160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50">
                          <a:solidFill>
                            <a:srgbClr val="2D3A4A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:name 命名参数</a:t>
                      </a:r>
                      <a:endParaRPr lang="en-US" sz="1100"/>
                    </a:p>
                  </a:txBody>
                  <a:tcPr anchor="ctr" anchorCtr="false" marL="101600" marR="10160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7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50">
                          <a:solidFill>
                            <a:srgbClr val="2D3A4A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&lt;foreach&gt; 集合</a:t>
                      </a:r>
                      <a:endParaRPr lang="en-US" sz="1100"/>
                    </a:p>
                  </a:txBody>
                  <a:tcPr anchor="ctr" anchorCtr="false" marL="101600" marR="10160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50">
                          <a:solidFill>
                            <a:srgbClr val="2D3A4A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in(:ids)</a:t>
                      </a:r>
                      <a:endParaRPr lang="en-US" sz="1100"/>
                    </a:p>
                  </a:txBody>
                  <a:tcPr anchor="ctr" anchorCtr="false" marL="101600" marR="10160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7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50">
                          <a:solidFill>
                            <a:srgbClr val="2D3A4A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ResultMap 手动映射</a:t>
                      </a:r>
                      <a:endParaRPr lang="en-US" sz="1100"/>
                    </a:p>
                  </a:txBody>
                  <a:tcPr anchor="ctr" anchorCtr="false" marL="101600" marR="10160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50">
                          <a:solidFill>
                            <a:srgbClr val="2D3A4A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VO + 列别名自动映射</a:t>
                      </a:r>
                      <a:endParaRPr lang="en-US" sz="1100"/>
                    </a:p>
                  </a:txBody>
                  <a:tcPr anchor="ctr" anchorCtr="false" marL="101600" marR="10160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7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50">
                          <a:solidFill>
                            <a:srgbClr val="2D3A4A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分页插件 / QueryWrapper</a:t>
                      </a:r>
                      <a:endParaRPr lang="en-US" sz="1100"/>
                    </a:p>
                  </a:txBody>
                  <a:tcPr anchor="ctr" anchorCtr="false" marL="101600" marR="10160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50">
                          <a:solidFill>
                            <a:srgbClr val="2D3A4A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findPage / EntityQuery / Lambda</a:t>
                      </a:r>
                      <a:endParaRPr lang="en-US" sz="1100"/>
                    </a:p>
                  </a:txBody>
                  <a:tcPr anchor="ctr" anchorCtr="false" marL="101600" marR="10160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7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50">
                          <a:solidFill>
                            <a:srgbClr val="2D3A4A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BaseMapper</a:t>
                      </a:r>
                      <a:endParaRPr lang="en-US" sz="1100"/>
                    </a:p>
                  </a:txBody>
                  <a:tcPr anchor="ctr" anchorCtr="false" marL="101600" marR="10160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50">
                          <a:solidFill>
                            <a:srgbClr val="2D3A4A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LightDao（约 110 方法）</a:t>
                      </a:r>
                      <a:endParaRPr lang="en-US" sz="1100"/>
                    </a:p>
                  </a:txBody>
                  <a:tcPr anchor="ctr" anchorCtr="false" marL="101600" marR="10160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7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50">
                          <a:solidFill>
                            <a:srgbClr val="2D3A4A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@TableLogic / @Version</a:t>
                      </a:r>
                      <a:endParaRPr lang="en-US" sz="1100"/>
                    </a:p>
                  </a:txBody>
                  <a:tcPr anchor="ctr" anchorCtr="false" marL="101600" marR="10160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50">
                          <a:solidFill>
                            <a:srgbClr val="2D3A4A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公共片段/拦截器 · @DataVersion</a:t>
                      </a:r>
                      <a:endParaRPr lang="en-US" sz="1100"/>
                    </a:p>
                  </a:txBody>
                  <a:tcPr anchor="ctr" anchorCtr="false" marL="101600" marR="10160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7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50">
                          <a:solidFill>
                            <a:srgbClr val="2D3A4A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自动填充 fill</a:t>
                      </a:r>
                      <a:endParaRPr lang="en-US" sz="1100"/>
                    </a:p>
                  </a:txBody>
                  <a:tcPr anchor="ctr" anchorCtr="false" marL="101600" marR="10160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50">
                          <a:solidFill>
                            <a:srgbClr val="2D3A4A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unifyFieldsHandler 统一处理</a:t>
                      </a:r>
                      <a:endParaRPr lang="en-US" sz="1100"/>
                    </a:p>
                  </a:txBody>
                  <a:tcPr anchor="ctr" anchorCtr="false" marL="101600" marR="10160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6" id="6"/>
          <p:cNvSpPr txBox="true"/>
          <p:nvPr/>
        </p:nvSpPr>
        <p:spPr>
          <a:xfrm rot="0" flipH="false" flipV="false">
            <a:off x="812800" y="4800600"/>
            <a:ext cx="105664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六步落地顺序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812800" y="5257800"/>
            <a:ext cx="342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50">
                <a:solidFill>
                  <a:srgbClr val="EC9343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US" b="false" i="false" strike="noStrike" u="none" sz="12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 引入 starter，配数据源与上下文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4381500" y="5257800"/>
            <a:ext cx="342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50">
                <a:solidFill>
                  <a:srgbClr val="EC9343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US" b="false" i="false" strike="noStrike" u="none" sz="12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 quickvo 生成实体与映射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7950200" y="5257800"/>
            <a:ext cx="342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50">
                <a:solidFill>
                  <a:srgbClr val="EC9343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n-US" b="false" i="false" strike="noStrike" u="none" sz="12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 先迁查询：sql.xml + #[]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812800" y="5740400"/>
            <a:ext cx="342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50">
                <a:solidFill>
                  <a:srgbClr val="EC9343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en-US" b="false" i="false" strike="noStrike" u="none" sz="12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 再迁写入：弹性更新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381500" y="5740400"/>
            <a:ext cx="342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50">
                <a:solidFill>
                  <a:srgbClr val="EC9343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lang="en-US" b="false" i="false" strike="noStrike" u="none" sz="12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 接缓存翻译与分页优化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7950200" y="5740400"/>
            <a:ext cx="342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50">
                <a:solidFill>
                  <a:srgbClr val="EC9343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r>
              <a:rPr lang="en-US" b="false" i="false" strike="noStrike" u="none" sz="12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 按需开启企业级特性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812800" y="6502400"/>
            <a:ext cx="762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8A6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来源：sqltoy-docs · introduction/migration.md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0922000" y="6502400"/>
            <a:ext cx="457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8A6"/>
                </a:solidFill>
                <a:latin typeface="Noto Sans SC"/>
                <a:ea typeface="Noto Sans SC"/>
                <a:cs typeface="Noto Sans SC"/>
                <a:sym typeface="Noto Sans SC"/>
              </a:rPr>
              <a:t>19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812800" y="4318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EC9343"/>
                </a:solidFill>
                <a:latin typeface="Noto Sans SC"/>
                <a:ea typeface="Noto Sans SC"/>
                <a:cs typeface="Noto Sans SC"/>
                <a:sym typeface="Noto Sans SC"/>
              </a:rPr>
              <a:t>08 · 版本生态与总结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812800" y="711200"/>
            <a:ext cx="105664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6.0 线、演示工程与适用边界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61381" flipH="false" flipV="false">
            <a:off x="812857" y="1263650"/>
            <a:ext cx="71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EC934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812800" y="1676400"/>
            <a:ext cx="5029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版本基线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812800" y="2108200"/>
            <a:ext cx="50292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true" i="false" strike="noStrike" u="none" sz="135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6.0.x 线：</a:t>
            </a:r>
            <a:r>
              <a:rPr lang="en-US" b="false" i="false" strike="noStrike" u="none" sz="13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要求 JDK 17+；6.0.8 将 Lambda 条件并入核心并完成 GraalVM AOT 重写。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true" i="false" strike="noStrike" u="none" sz="135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JDK 8 项目：</a:t>
            </a:r>
            <a:r>
              <a:rPr lang="en-US" b="false" i="false" strike="noStrike" u="none" sz="13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停留在 5.6.96.jre8 维护线。</a:t>
            </a:r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6299200" y="16764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演示工程与工具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6299200" y="2108200"/>
            <a:ext cx="508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3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helloworld · quickstart · showcase · strict · solon-demo 五个示例工程。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3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配套 quickvo 代码生成与 IDEA 插件，开箱跑通。</a:t>
            </a:r>
          </a:p>
        </p:txBody>
      </p:sp>
      <p:cxnSp>
        <p:nvCxnSpPr>
          <p:cNvPr name="Connector 9" id="9"/>
          <p:cNvCxnSpPr/>
          <p:nvPr/>
        </p:nvCxnSpPr>
        <p:spPr>
          <a:xfrm rot="-4131" flipH="false" flipV="false">
            <a:off x="812804" y="40068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7E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812800" y="4318000"/>
            <a:ext cx="3429000" cy="1524000"/>
          </a:xfrm>
          <a:prstGeom prst="roundRect">
            <a:avLst>
              <a:gd name="adj" fmla="val 0"/>
            </a:avLst>
          </a:prstGeom>
          <a:solidFill>
            <a:srgbClr val="FCF3EA">
              <a:alpha val="100000"/>
            </a:srgbClr>
          </a:solidFill>
          <a:ln w="12700" cmpd="sng" cap="flat">
            <a:solidFill>
              <a:srgbClr val="EC9343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041400" y="4521200"/>
            <a:ext cx="2997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何时选用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041400" y="4927600"/>
            <a:ext cx="2997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250">
                <a:solidFill>
                  <a:srgbClr val="2D3A4A"/>
                </a:solidFill>
                <a:latin typeface="Noto Sans SC"/>
                <a:ea typeface="Noto Sans SC"/>
                <a:cs typeface="Noto Sans SC"/>
                <a:sym typeface="Noto Sans SC"/>
              </a:rPr>
              <a:t>条件多变的后台、复杂 SaaS、报表分析、信创/OLAP 多库，需要对象操作又要强 SQL。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470400" y="4318000"/>
            <a:ext cx="3429000" cy="1524000"/>
          </a:xfrm>
          <a:prstGeom prst="roundRect">
            <a:avLst>
              <a:gd name="adj" fmla="val 0"/>
            </a:avLst>
          </a:prstGeom>
          <a:solidFill>
            <a:srgbClr val="EEF2F7">
              <a:alpha val="100000"/>
            </a:srgbClr>
          </a:solidFill>
          <a:ln w="12700" cmpd="sng" cap="flat">
            <a:solidFill>
              <a:srgbClr val="E2E7E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4699000" y="4521200"/>
            <a:ext cx="2997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7395D"/>
                </a:solidFill>
                <a:latin typeface="Noto Sans SC"/>
                <a:ea typeface="Noto Sans SC"/>
                <a:cs typeface="Noto Sans SC"/>
                <a:sym typeface="Noto Sans SC"/>
              </a:rPr>
              <a:t>边界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4699000" y="4927600"/>
            <a:ext cx="2997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25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纯单表 CRUD、无需复杂查询的极简场景，轻量框架即可，不必引入全套能力。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128000" y="4318000"/>
            <a:ext cx="3251200" cy="1524000"/>
          </a:xfrm>
          <a:prstGeom prst="roundRect">
            <a:avLst>
              <a:gd name="adj" fmla="val 0"/>
            </a:avLst>
          </a:prstGeom>
          <a:solidFill>
            <a:srgbClr val="17395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8356600" y="45212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EC9343"/>
                </a:solidFill>
                <a:latin typeface="Noto Sans SC"/>
                <a:ea typeface="Noto Sans SC"/>
                <a:cs typeface="Noto Sans SC"/>
                <a:sym typeface="Noto Sans SC"/>
              </a:rPr>
              <a:t>下一步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8356600" y="49276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25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从 quickstart 跑通一条查询+写入，再按模块逐步接入，对照演示工程落地。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812800" y="6502400"/>
            <a:ext cx="762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8A6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来源：sqltoy-docs · introduction/changelog.md、awesome.md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10922000" y="6502400"/>
            <a:ext cx="457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8A6"/>
                </a:solidFill>
                <a:latin typeface="Noto Sans SC"/>
                <a:ea typeface="Noto Sans SC"/>
                <a:cs typeface="Noto Sans SC"/>
                <a:sym typeface="Noto Sans SC"/>
              </a:rPr>
              <a:t>20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{"Label":"1","ContentProducer":"001191110102MACQD9K64010000","ProduceID":"7698946780127431680","ReservedCode1":"","ContentPropagator":"","PropagateID":"","ReservedCode2":""}</vt:lpwstr>
  </property>
</Properties>
</file>